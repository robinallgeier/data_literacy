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63" r:id="rId3"/>
    <p:sldId id="291" r:id="rId4"/>
    <p:sldId id="293" r:id="rId5"/>
    <p:sldId id="298" r:id="rId6"/>
    <p:sldId id="299" r:id="rId7"/>
    <p:sldId id="300" r:id="rId8"/>
    <p:sldId id="301" r:id="rId9"/>
    <p:sldId id="302" r:id="rId10"/>
    <p:sldId id="290" r:id="rId11"/>
    <p:sldId id="295" r:id="rId12"/>
    <p:sldId id="296" r:id="rId13"/>
    <p:sldId id="297" r:id="rId14"/>
  </p:sldIdLst>
  <p:sldSz cx="9144000" cy="5143500" type="screen16x9"/>
  <p:notesSz cx="6858000" cy="9144000"/>
  <p:embeddedFontLst>
    <p:embeddedFont>
      <p:font typeface="Helvetica" panose="020B0604020202020204" pitchFamily="34" charset="0"/>
      <p:regular r:id="rId16"/>
      <p:bold r:id="rId17"/>
      <p:italic r:id="rId18"/>
      <p:boldItalic r:id="rId19"/>
    </p:embeddedFont>
    <p:embeddedFont>
      <p:font typeface="Inria Serif" panose="020B060402020202020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9577CF-9A69-92E2-DBB0-EF4F2285336B}" name="Guest User" initials="GU" userId="S::urn:spo:tenantanon#e1475833-dbe8-4ae0-894e-cd0f561c98f4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ADAF"/>
    <a:srgbClr val="890000"/>
    <a:srgbClr val="7C0100"/>
    <a:srgbClr val="FFF8F3"/>
    <a:srgbClr val="A87A79"/>
    <a:srgbClr val="B98685"/>
    <a:srgbClr val="AE4B4C"/>
    <a:srgbClr val="D35A5C"/>
    <a:srgbClr val="E16062"/>
    <a:srgbClr val="8C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922CC-772A-D843-AEFE-4ED6096E00B3}" v="836" dt="2025-11-12T19:39:11.145"/>
    <p1510:client id="{1B2CFA58-9937-8948-878A-7ABA3D43E445}" v="1745" dt="2025-11-13T12:22:45.478"/>
    <p1510:client id="{24CDD897-8EB2-E8ED-32A6-95C534B9EFE4}" v="7" dt="2025-11-13T12:31:35.656"/>
    <p1510:client id="{79C0F6C0-69B1-8A6D-0103-8243245F7545}" v="10" dt="2025-11-12T16:10:21.047"/>
    <p1510:client id="{A50F93B8-8A3E-7659-8179-120A719BA64F}" v="46" dt="2025-11-12T16:12:36.448"/>
    <p1510:client id="{A792CCD5-B6B2-42AD-FD47-5C927EA8D5C6}" v="8" dt="2025-11-13T12:31:55.744"/>
    <p1510:client id="{C7BB2E3A-6343-D18F-CFE5-F9EBEEA1DC6E}" v="8" dt="2025-11-13T15:14:21.605"/>
    <p1510:client id="{FE02257B-078B-6BC1-1E83-79FF4F9A908D}" v="41" dt="2025-11-13T12:12:43.918"/>
  </p1510:revLst>
</p1510:revInfo>
</file>

<file path=ppt/tableStyles.xml><?xml version="1.0" encoding="utf-8"?>
<a:tblStyleLst xmlns:a="http://schemas.openxmlformats.org/drawingml/2006/main" def="{6BCA7C44-A6FF-4866-8727-2BB07229C163}">
  <a:tblStyle styleId="{6BCA7C44-A6FF-4866-8727-2BB07229C1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96E57C-F880-F14C-8386-EDEF131FA525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4E8FCE0-B30A-EC40-82D2-15EFF1F8E5BD}">
      <dgm:prSet phldrT="[Text]"/>
      <dgm:spPr>
        <a:solidFill>
          <a:srgbClr val="890000"/>
        </a:solidFill>
      </dgm:spPr>
      <dgm:t>
        <a:bodyPr/>
        <a:lstStyle/>
        <a:p>
          <a:r>
            <a:rPr lang="de-DE" err="1"/>
            <a:t>Borrowing</a:t>
          </a:r>
          <a:r>
            <a:rPr lang="de-DE"/>
            <a:t> </a:t>
          </a:r>
          <a:r>
            <a:rPr lang="de-DE" err="1"/>
            <a:t>Behaviour</a:t>
          </a:r>
          <a:endParaRPr lang="de-DE"/>
        </a:p>
      </dgm:t>
    </dgm:pt>
    <dgm:pt modelId="{C100B816-5FE4-7245-A025-8E76CD8844A1}" type="parTrans" cxnId="{9B713003-B484-CD4C-8BB6-3601BDBE9160}">
      <dgm:prSet/>
      <dgm:spPr/>
      <dgm:t>
        <a:bodyPr/>
        <a:lstStyle/>
        <a:p>
          <a:endParaRPr lang="de-DE"/>
        </a:p>
      </dgm:t>
    </dgm:pt>
    <dgm:pt modelId="{31F4D460-87A7-CA4D-8849-E0545542687F}" type="sibTrans" cxnId="{9B713003-B484-CD4C-8BB6-3601BDBE9160}">
      <dgm:prSet/>
      <dgm:spPr/>
      <dgm:t>
        <a:bodyPr/>
        <a:lstStyle/>
        <a:p>
          <a:endParaRPr lang="de-DE"/>
        </a:p>
      </dgm:t>
    </dgm:pt>
    <dgm:pt modelId="{36B172D9-3AF1-BF40-8D6E-A4AE850947E5}">
      <dgm:prSet phldrT="[Text]" phldr="0"/>
      <dgm:spPr>
        <a:solidFill>
          <a:srgbClr val="890000"/>
        </a:solidFill>
      </dgm:spPr>
      <dgm:t>
        <a:bodyPr/>
        <a:lstStyle/>
        <a:p>
          <a:pPr rtl="0"/>
          <a:r>
            <a:rPr lang="de-DE" sz="900">
              <a:latin typeface="Helvetica"/>
              <a:cs typeface="Helvetica"/>
            </a:rPr>
            <a:t>Relationship between book size and borrowing duration</a:t>
          </a:r>
          <a:endParaRPr lang="de-DE"/>
        </a:p>
      </dgm:t>
    </dgm:pt>
    <dgm:pt modelId="{EFA3E8A5-EE7C-7E4A-9E82-EB528475BB30}" type="parTrans" cxnId="{350FBB47-852D-3347-B223-B6CE8FF4D5B0}">
      <dgm:prSet/>
      <dgm:spPr/>
      <dgm:t>
        <a:bodyPr/>
        <a:lstStyle/>
        <a:p>
          <a:endParaRPr lang="de-DE"/>
        </a:p>
      </dgm:t>
    </dgm:pt>
    <dgm:pt modelId="{FAC584AB-F709-7348-9318-C4A1A385F8AF}" type="sibTrans" cxnId="{350FBB47-852D-3347-B223-B6CE8FF4D5B0}">
      <dgm:prSet/>
      <dgm:spPr/>
      <dgm:t>
        <a:bodyPr/>
        <a:lstStyle/>
        <a:p>
          <a:endParaRPr lang="de-DE"/>
        </a:p>
      </dgm:t>
    </dgm:pt>
    <dgm:pt modelId="{3688C101-64B0-FD45-9E75-8F554D425023}">
      <dgm:prSet phldrT="[Text]"/>
      <dgm:spPr>
        <a:solidFill>
          <a:srgbClr val="890000"/>
        </a:solidFill>
      </dgm:spPr>
      <dgm:t>
        <a:bodyPr/>
        <a:lstStyle/>
        <a:p>
          <a:r>
            <a:rPr lang="de-DE" err="1"/>
            <a:t>Loan</a:t>
          </a:r>
          <a:r>
            <a:rPr lang="de-DE"/>
            <a:t> Duration and </a:t>
          </a:r>
          <a:r>
            <a:rPr lang="de-DE" err="1"/>
            <a:t>Punctuality</a:t>
          </a:r>
          <a:endParaRPr lang="de-DE"/>
        </a:p>
      </dgm:t>
    </dgm:pt>
    <dgm:pt modelId="{A19F0BDE-EE28-A643-B931-5DE666B15125}" type="parTrans" cxnId="{13B2FD3F-279F-9F4F-B997-8F8461F0F970}">
      <dgm:prSet/>
      <dgm:spPr/>
      <dgm:t>
        <a:bodyPr/>
        <a:lstStyle/>
        <a:p>
          <a:endParaRPr lang="de-DE"/>
        </a:p>
      </dgm:t>
    </dgm:pt>
    <dgm:pt modelId="{DDE95E64-4EED-EE42-8025-C668BC401AD3}" type="sibTrans" cxnId="{13B2FD3F-279F-9F4F-B997-8F8461F0F970}">
      <dgm:prSet/>
      <dgm:spPr/>
      <dgm:t>
        <a:bodyPr/>
        <a:lstStyle/>
        <a:p>
          <a:endParaRPr lang="de-DE"/>
        </a:p>
      </dgm:t>
    </dgm:pt>
    <dgm:pt modelId="{ECCADCE4-7928-C74D-9495-83EFAF5626D3}">
      <dgm:prSet phldrT="[Text]"/>
      <dgm:spPr>
        <a:ln>
          <a:solidFill>
            <a:srgbClr val="F3ADAF"/>
          </a:solidFill>
        </a:ln>
      </dgm:spPr>
      <dgm:t>
        <a:bodyPr/>
        <a:lstStyle/>
        <a:p>
          <a:r>
            <a:rPr lang="de-DE" err="1"/>
            <a:t>Borrowing</a:t>
          </a:r>
          <a:r>
            <a:rPr lang="de-DE"/>
            <a:t> </a:t>
          </a:r>
          <a:r>
            <a:rPr lang="de-DE" err="1"/>
            <a:t>activity</a:t>
          </a:r>
          <a:r>
            <a:rPr lang="de-DE"/>
            <a:t> </a:t>
          </a:r>
          <a:r>
            <a:rPr lang="de-DE" err="1"/>
            <a:t>is</a:t>
          </a:r>
          <a:r>
            <a:rPr lang="de-DE"/>
            <a:t> </a:t>
          </a:r>
          <a:r>
            <a:rPr lang="de-DE" err="1"/>
            <a:t>higher</a:t>
          </a:r>
          <a:r>
            <a:rPr lang="de-DE"/>
            <a:t> </a:t>
          </a:r>
          <a:r>
            <a:rPr lang="de-DE" err="1"/>
            <a:t>during</a:t>
          </a:r>
          <a:r>
            <a:rPr lang="de-DE"/>
            <a:t> </a:t>
          </a:r>
          <a:r>
            <a:rPr lang="de-DE" err="1"/>
            <a:t>winter</a:t>
          </a:r>
          <a:r>
            <a:rPr lang="de-DE"/>
            <a:t> </a:t>
          </a:r>
          <a:r>
            <a:rPr lang="de-DE" err="1"/>
            <a:t>months</a:t>
          </a:r>
          <a:r>
            <a:rPr lang="de-DE"/>
            <a:t> </a:t>
          </a:r>
          <a:r>
            <a:rPr lang="de-DE" err="1"/>
            <a:t>or</a:t>
          </a:r>
          <a:r>
            <a:rPr lang="de-DE"/>
            <a:t> </a:t>
          </a:r>
          <a:r>
            <a:rPr lang="de-DE" err="1"/>
            <a:t>school</a:t>
          </a:r>
          <a:r>
            <a:rPr lang="de-DE"/>
            <a:t> </a:t>
          </a:r>
          <a:r>
            <a:rPr lang="de-DE" err="1"/>
            <a:t>terms</a:t>
          </a:r>
          <a:r>
            <a:rPr lang="de-DE"/>
            <a:t>.</a:t>
          </a:r>
        </a:p>
      </dgm:t>
    </dgm:pt>
    <dgm:pt modelId="{6D886B50-D2C1-7149-B5F2-F1FD3A6622E3}" type="parTrans" cxnId="{06FC489A-6810-6440-8718-088772552558}">
      <dgm:prSet/>
      <dgm:spPr/>
    </dgm:pt>
    <dgm:pt modelId="{81C9DE79-0B45-5B4C-B338-04F7C3DC93B0}" type="sibTrans" cxnId="{06FC489A-6810-6440-8718-088772552558}">
      <dgm:prSet/>
      <dgm:spPr/>
    </dgm:pt>
    <dgm:pt modelId="{43BA46F2-9366-5A4A-B422-065A23CC5F2F}">
      <dgm:prSet phldrT="[Text]"/>
      <dgm:spPr>
        <a:ln>
          <a:solidFill>
            <a:srgbClr val="F3ADAF"/>
          </a:solidFill>
        </a:ln>
      </dgm:spPr>
      <dgm:t>
        <a:bodyPr/>
        <a:lstStyle/>
        <a:p>
          <a:pPr rtl="0"/>
          <a:r>
            <a:rPr lang="de-DE"/>
            <a:t>Larger books are borrowed for longer periods.</a:t>
          </a:r>
        </a:p>
      </dgm:t>
    </dgm:pt>
    <dgm:pt modelId="{6774C166-3388-4840-A28B-F030ED57FC04}" type="parTrans" cxnId="{A0F3EF8E-6A61-4843-8628-854A34B3C6F7}">
      <dgm:prSet/>
      <dgm:spPr/>
    </dgm:pt>
    <dgm:pt modelId="{35609009-26C8-F44E-A65C-DE373E4FF736}" type="sibTrans" cxnId="{A0F3EF8E-6A61-4843-8628-854A34B3C6F7}">
      <dgm:prSet/>
      <dgm:spPr/>
    </dgm:pt>
    <dgm:pt modelId="{714538D4-0C21-AD4A-A9A1-C88CAC16742F}">
      <dgm:prSet phldrT="[Text]"/>
      <dgm:spPr>
        <a:ln>
          <a:solidFill>
            <a:srgbClr val="F3ADAF"/>
          </a:solidFill>
        </a:ln>
      </dgm:spPr>
      <dgm:t>
        <a:bodyPr/>
        <a:lstStyle/>
        <a:p>
          <a:r>
            <a:rPr lang="de-DE" err="1"/>
            <a:t>Is</a:t>
          </a:r>
          <a:r>
            <a:rPr lang="de-DE"/>
            <a:t> </a:t>
          </a:r>
          <a:r>
            <a:rPr lang="de-DE" err="1"/>
            <a:t>there</a:t>
          </a:r>
          <a:r>
            <a:rPr lang="de-DE"/>
            <a:t> a </a:t>
          </a:r>
          <a:r>
            <a:rPr lang="de-DE" err="1"/>
            <a:t>correlation</a:t>
          </a:r>
          <a:r>
            <a:rPr lang="de-DE"/>
            <a:t> </a:t>
          </a:r>
          <a:r>
            <a:rPr lang="de-DE" err="1"/>
            <a:t>between</a:t>
          </a:r>
          <a:r>
            <a:rPr lang="de-DE"/>
            <a:t> </a:t>
          </a:r>
          <a:r>
            <a:rPr lang="de-DE" err="1"/>
            <a:t>genre</a:t>
          </a:r>
          <a:r>
            <a:rPr lang="de-DE"/>
            <a:t> an </a:t>
          </a:r>
          <a:r>
            <a:rPr lang="de-DE" err="1"/>
            <a:t>overdue</a:t>
          </a:r>
          <a:r>
            <a:rPr lang="de-DE"/>
            <a:t> returns.</a:t>
          </a:r>
        </a:p>
      </dgm:t>
    </dgm:pt>
    <dgm:pt modelId="{629D510C-24F1-DC49-BA2E-02894E8F3D9D}" type="parTrans" cxnId="{1FA283ED-FBC0-1A47-88A9-B99A58543DDC}">
      <dgm:prSet/>
      <dgm:spPr/>
    </dgm:pt>
    <dgm:pt modelId="{B7508B32-A077-8345-9FA8-CE8581EAC8FB}" type="sibTrans" cxnId="{1FA283ED-FBC0-1A47-88A9-B99A58543DDC}">
      <dgm:prSet/>
      <dgm:spPr/>
    </dgm:pt>
    <dgm:pt modelId="{19B67AC9-324D-9E42-8470-EA4C44327F2E}">
      <dgm:prSet phldrT="[Text]"/>
      <dgm:spPr>
        <a:solidFill>
          <a:schemeClr val="bg2"/>
        </a:solidFill>
      </dgm:spPr>
      <dgm:t>
        <a:bodyPr/>
        <a:lstStyle/>
        <a:p>
          <a:pPr algn="ctr"/>
          <a:r>
            <a:rPr lang="de-DE"/>
            <a:t>...</a:t>
          </a:r>
        </a:p>
      </dgm:t>
    </dgm:pt>
    <dgm:pt modelId="{34089DBC-33A2-4148-8EDD-C2187CF04A6F}" type="parTrans" cxnId="{EAE8767E-C17E-5346-AB07-4DEA985300EE}">
      <dgm:prSet/>
      <dgm:spPr/>
    </dgm:pt>
    <dgm:pt modelId="{5C74E73D-AF24-5447-8813-0EB2CB7C4371}" type="sibTrans" cxnId="{EAE8767E-C17E-5346-AB07-4DEA985300EE}">
      <dgm:prSet/>
      <dgm:spPr/>
    </dgm:pt>
    <dgm:pt modelId="{3B06DACF-3807-4A4E-899A-88CC4585FEFF}" type="pres">
      <dgm:prSet presAssocID="{6396E57C-F880-F14C-8386-EDEF131FA525}" presName="linear" presStyleCnt="0">
        <dgm:presLayoutVars>
          <dgm:dir/>
          <dgm:animLvl val="lvl"/>
          <dgm:resizeHandles val="exact"/>
        </dgm:presLayoutVars>
      </dgm:prSet>
      <dgm:spPr/>
    </dgm:pt>
    <dgm:pt modelId="{C2F300E5-5CE7-2943-932B-FD2FC8EAA783}" type="pres">
      <dgm:prSet presAssocID="{14E8FCE0-B30A-EC40-82D2-15EFF1F8E5BD}" presName="parentLin" presStyleCnt="0"/>
      <dgm:spPr/>
    </dgm:pt>
    <dgm:pt modelId="{5191E40F-F96A-A545-B69B-E79AF681B18F}" type="pres">
      <dgm:prSet presAssocID="{14E8FCE0-B30A-EC40-82D2-15EFF1F8E5BD}" presName="parentLeftMargin" presStyleLbl="node1" presStyleIdx="0" presStyleCnt="4"/>
      <dgm:spPr/>
    </dgm:pt>
    <dgm:pt modelId="{817E2792-1543-C04A-8C1D-B8C103CAE851}" type="pres">
      <dgm:prSet presAssocID="{14E8FCE0-B30A-EC40-82D2-15EFF1F8E5BD}" presName="parentText" presStyleLbl="node1" presStyleIdx="0" presStyleCnt="4" custScaleX="63785">
        <dgm:presLayoutVars>
          <dgm:chMax val="0"/>
          <dgm:bulletEnabled val="1"/>
        </dgm:presLayoutVars>
      </dgm:prSet>
      <dgm:spPr/>
    </dgm:pt>
    <dgm:pt modelId="{F3145CE0-294E-B842-A463-61487297552E}" type="pres">
      <dgm:prSet presAssocID="{14E8FCE0-B30A-EC40-82D2-15EFF1F8E5BD}" presName="negativeSpace" presStyleCnt="0"/>
      <dgm:spPr/>
    </dgm:pt>
    <dgm:pt modelId="{A7047694-7466-9B44-B47B-4BA46A862969}" type="pres">
      <dgm:prSet presAssocID="{14E8FCE0-B30A-EC40-82D2-15EFF1F8E5BD}" presName="childText" presStyleLbl="conFgAcc1" presStyleIdx="0" presStyleCnt="4">
        <dgm:presLayoutVars>
          <dgm:bulletEnabled val="1"/>
        </dgm:presLayoutVars>
      </dgm:prSet>
      <dgm:spPr/>
    </dgm:pt>
    <dgm:pt modelId="{1570E3A1-41D1-0E40-B4B5-7DD07C366D52}" type="pres">
      <dgm:prSet presAssocID="{31F4D460-87A7-CA4D-8849-E0545542687F}" presName="spaceBetweenRectangles" presStyleCnt="0"/>
      <dgm:spPr/>
    </dgm:pt>
    <dgm:pt modelId="{1A9B67B2-6ADB-A647-8794-680FFD0F5345}" type="pres">
      <dgm:prSet presAssocID="{36B172D9-3AF1-BF40-8D6E-A4AE850947E5}" presName="parentLin" presStyleCnt="0"/>
      <dgm:spPr/>
    </dgm:pt>
    <dgm:pt modelId="{4AD0217B-2786-F047-BC5F-D974D27603B9}" type="pres">
      <dgm:prSet presAssocID="{36B172D9-3AF1-BF40-8D6E-A4AE850947E5}" presName="parentLeftMargin" presStyleLbl="node1" presStyleIdx="0" presStyleCnt="4"/>
      <dgm:spPr/>
    </dgm:pt>
    <dgm:pt modelId="{1044FC8D-8FC6-4F4D-A32C-05E9605255F2}" type="pres">
      <dgm:prSet presAssocID="{36B172D9-3AF1-BF40-8D6E-A4AE850947E5}" presName="parentText" presStyleLbl="node1" presStyleIdx="1" presStyleCnt="4" custScaleX="63785">
        <dgm:presLayoutVars>
          <dgm:chMax val="0"/>
          <dgm:bulletEnabled val="1"/>
        </dgm:presLayoutVars>
      </dgm:prSet>
      <dgm:spPr/>
    </dgm:pt>
    <dgm:pt modelId="{B6953830-A2F9-3D43-981F-D9634ECC3815}" type="pres">
      <dgm:prSet presAssocID="{36B172D9-3AF1-BF40-8D6E-A4AE850947E5}" presName="negativeSpace" presStyleCnt="0"/>
      <dgm:spPr/>
    </dgm:pt>
    <dgm:pt modelId="{9F30F25F-F5C4-DC4F-955D-C158B80BA646}" type="pres">
      <dgm:prSet presAssocID="{36B172D9-3AF1-BF40-8D6E-A4AE850947E5}" presName="childText" presStyleLbl="conFgAcc1" presStyleIdx="1" presStyleCnt="4">
        <dgm:presLayoutVars>
          <dgm:bulletEnabled val="1"/>
        </dgm:presLayoutVars>
      </dgm:prSet>
      <dgm:spPr/>
    </dgm:pt>
    <dgm:pt modelId="{DE6DAE26-77D2-0A48-BC34-B77466994CD7}" type="pres">
      <dgm:prSet presAssocID="{FAC584AB-F709-7348-9318-C4A1A385F8AF}" presName="spaceBetweenRectangles" presStyleCnt="0"/>
      <dgm:spPr/>
    </dgm:pt>
    <dgm:pt modelId="{72B31508-0AFC-6E41-9464-84496B279A84}" type="pres">
      <dgm:prSet presAssocID="{3688C101-64B0-FD45-9E75-8F554D425023}" presName="parentLin" presStyleCnt="0"/>
      <dgm:spPr/>
    </dgm:pt>
    <dgm:pt modelId="{BD5044B3-2F17-BF48-A952-E53B4787C296}" type="pres">
      <dgm:prSet presAssocID="{3688C101-64B0-FD45-9E75-8F554D425023}" presName="parentLeftMargin" presStyleLbl="node1" presStyleIdx="1" presStyleCnt="4"/>
      <dgm:spPr/>
    </dgm:pt>
    <dgm:pt modelId="{8824E2B5-A8A3-6C48-925B-2AC65BFD3DAD}" type="pres">
      <dgm:prSet presAssocID="{3688C101-64B0-FD45-9E75-8F554D425023}" presName="parentText" presStyleLbl="node1" presStyleIdx="2" presStyleCnt="4" custScaleX="63785">
        <dgm:presLayoutVars>
          <dgm:chMax val="0"/>
          <dgm:bulletEnabled val="1"/>
        </dgm:presLayoutVars>
      </dgm:prSet>
      <dgm:spPr/>
    </dgm:pt>
    <dgm:pt modelId="{497DC238-C242-3344-B6BF-DB90DCE880D3}" type="pres">
      <dgm:prSet presAssocID="{3688C101-64B0-FD45-9E75-8F554D425023}" presName="negativeSpace" presStyleCnt="0"/>
      <dgm:spPr/>
    </dgm:pt>
    <dgm:pt modelId="{B74E65A6-1830-4041-8471-FBFD388757E0}" type="pres">
      <dgm:prSet presAssocID="{3688C101-64B0-FD45-9E75-8F554D425023}" presName="childText" presStyleLbl="conFgAcc1" presStyleIdx="2" presStyleCnt="4">
        <dgm:presLayoutVars>
          <dgm:bulletEnabled val="1"/>
        </dgm:presLayoutVars>
      </dgm:prSet>
      <dgm:spPr/>
    </dgm:pt>
    <dgm:pt modelId="{468E47AB-DA8C-944C-A318-C7ADF32B4A16}" type="pres">
      <dgm:prSet presAssocID="{DDE95E64-4EED-EE42-8025-C668BC401AD3}" presName="spaceBetweenRectangles" presStyleCnt="0"/>
      <dgm:spPr/>
    </dgm:pt>
    <dgm:pt modelId="{7D9D9591-E49E-3440-8A59-D28EDEC3424D}" type="pres">
      <dgm:prSet presAssocID="{19B67AC9-324D-9E42-8470-EA4C44327F2E}" presName="parentLin" presStyleCnt="0"/>
      <dgm:spPr/>
    </dgm:pt>
    <dgm:pt modelId="{7B7B77F8-FC7D-8E4A-BDA2-9A14DEF4FF16}" type="pres">
      <dgm:prSet presAssocID="{19B67AC9-324D-9E42-8470-EA4C44327F2E}" presName="parentLeftMargin" presStyleLbl="node1" presStyleIdx="2" presStyleCnt="4"/>
      <dgm:spPr/>
    </dgm:pt>
    <dgm:pt modelId="{A4EE5422-842F-8748-A8F3-2AF6711A0F0F}" type="pres">
      <dgm:prSet presAssocID="{19B67AC9-324D-9E42-8470-EA4C44327F2E}" presName="parentText" presStyleLbl="node1" presStyleIdx="3" presStyleCnt="4" custScaleX="63785">
        <dgm:presLayoutVars>
          <dgm:chMax val="0"/>
          <dgm:bulletEnabled val="1"/>
        </dgm:presLayoutVars>
      </dgm:prSet>
      <dgm:spPr/>
    </dgm:pt>
    <dgm:pt modelId="{4ED40183-4DC4-4C46-8A9A-B56F38218572}" type="pres">
      <dgm:prSet presAssocID="{19B67AC9-324D-9E42-8470-EA4C44327F2E}" presName="negativeSpace" presStyleCnt="0"/>
      <dgm:spPr/>
    </dgm:pt>
    <dgm:pt modelId="{95C166CD-E907-044A-8372-07EA9D0A9C03}" type="pres">
      <dgm:prSet presAssocID="{19B67AC9-324D-9E42-8470-EA4C44327F2E}" presName="childText" presStyleLbl="conFgAcc1" presStyleIdx="3" presStyleCnt="4">
        <dgm:presLayoutVars>
          <dgm:bulletEnabled val="1"/>
        </dgm:presLayoutVars>
      </dgm:prSet>
      <dgm:spPr>
        <a:ln>
          <a:solidFill>
            <a:srgbClr val="F3ADAF"/>
          </a:solidFill>
        </a:ln>
      </dgm:spPr>
    </dgm:pt>
  </dgm:ptLst>
  <dgm:cxnLst>
    <dgm:cxn modelId="{9B713003-B484-CD4C-8BB6-3601BDBE9160}" srcId="{6396E57C-F880-F14C-8386-EDEF131FA525}" destId="{14E8FCE0-B30A-EC40-82D2-15EFF1F8E5BD}" srcOrd="0" destOrd="0" parTransId="{C100B816-5FE4-7245-A025-8E76CD8844A1}" sibTransId="{31F4D460-87A7-CA4D-8849-E0545542687F}"/>
    <dgm:cxn modelId="{0F4C4B0C-CC3D-824B-91E3-ABE749856D1D}" type="presOf" srcId="{3688C101-64B0-FD45-9E75-8F554D425023}" destId="{BD5044B3-2F17-BF48-A952-E53B4787C296}" srcOrd="0" destOrd="0" presId="urn:microsoft.com/office/officeart/2005/8/layout/list1"/>
    <dgm:cxn modelId="{1998B132-219A-AF42-9D98-AB9352C9FA2D}" type="presOf" srcId="{36B172D9-3AF1-BF40-8D6E-A4AE850947E5}" destId="{1044FC8D-8FC6-4F4D-A32C-05E9605255F2}" srcOrd="1" destOrd="0" presId="urn:microsoft.com/office/officeart/2005/8/layout/list1"/>
    <dgm:cxn modelId="{769C3836-D850-C64A-BD28-980FD708EE71}" type="presOf" srcId="{19B67AC9-324D-9E42-8470-EA4C44327F2E}" destId="{A4EE5422-842F-8748-A8F3-2AF6711A0F0F}" srcOrd="1" destOrd="0" presId="urn:microsoft.com/office/officeart/2005/8/layout/list1"/>
    <dgm:cxn modelId="{13B2FD3F-279F-9F4F-B997-8F8461F0F970}" srcId="{6396E57C-F880-F14C-8386-EDEF131FA525}" destId="{3688C101-64B0-FD45-9E75-8F554D425023}" srcOrd="2" destOrd="0" parTransId="{A19F0BDE-EE28-A643-B931-5DE666B15125}" sibTransId="{DDE95E64-4EED-EE42-8025-C668BC401AD3}"/>
    <dgm:cxn modelId="{350FBB47-852D-3347-B223-B6CE8FF4D5B0}" srcId="{6396E57C-F880-F14C-8386-EDEF131FA525}" destId="{36B172D9-3AF1-BF40-8D6E-A4AE850947E5}" srcOrd="1" destOrd="0" parTransId="{EFA3E8A5-EE7C-7E4A-9E82-EB528475BB30}" sibTransId="{FAC584AB-F709-7348-9318-C4A1A385F8AF}"/>
    <dgm:cxn modelId="{86248E69-44DB-2B49-BF59-337F61CC31EF}" type="presOf" srcId="{36B172D9-3AF1-BF40-8D6E-A4AE850947E5}" destId="{4AD0217B-2786-F047-BC5F-D974D27603B9}" srcOrd="0" destOrd="0" presId="urn:microsoft.com/office/officeart/2005/8/layout/list1"/>
    <dgm:cxn modelId="{CFC0B676-EA3F-5F4C-9C38-CBD0AF4AE083}" type="presOf" srcId="{14E8FCE0-B30A-EC40-82D2-15EFF1F8E5BD}" destId="{5191E40F-F96A-A545-B69B-E79AF681B18F}" srcOrd="0" destOrd="0" presId="urn:microsoft.com/office/officeart/2005/8/layout/list1"/>
    <dgm:cxn modelId="{EAE8767E-C17E-5346-AB07-4DEA985300EE}" srcId="{6396E57C-F880-F14C-8386-EDEF131FA525}" destId="{19B67AC9-324D-9E42-8470-EA4C44327F2E}" srcOrd="3" destOrd="0" parTransId="{34089DBC-33A2-4148-8EDD-C2187CF04A6F}" sibTransId="{5C74E73D-AF24-5447-8813-0EB2CB7C4371}"/>
    <dgm:cxn modelId="{71729683-A7DD-F844-93FD-2A176EE5E4C7}" type="presOf" srcId="{19B67AC9-324D-9E42-8470-EA4C44327F2E}" destId="{7B7B77F8-FC7D-8E4A-BDA2-9A14DEF4FF16}" srcOrd="0" destOrd="0" presId="urn:microsoft.com/office/officeart/2005/8/layout/list1"/>
    <dgm:cxn modelId="{A0F3EF8E-6A61-4843-8628-854A34B3C6F7}" srcId="{36B172D9-3AF1-BF40-8D6E-A4AE850947E5}" destId="{43BA46F2-9366-5A4A-B422-065A23CC5F2F}" srcOrd="0" destOrd="0" parTransId="{6774C166-3388-4840-A28B-F030ED57FC04}" sibTransId="{35609009-26C8-F44E-A65C-DE373E4FF736}"/>
    <dgm:cxn modelId="{75598A99-F502-5A45-8C8D-1169E68FF006}" type="presOf" srcId="{14E8FCE0-B30A-EC40-82D2-15EFF1F8E5BD}" destId="{817E2792-1543-C04A-8C1D-B8C103CAE851}" srcOrd="1" destOrd="0" presId="urn:microsoft.com/office/officeart/2005/8/layout/list1"/>
    <dgm:cxn modelId="{06FC489A-6810-6440-8718-088772552558}" srcId="{14E8FCE0-B30A-EC40-82D2-15EFF1F8E5BD}" destId="{ECCADCE4-7928-C74D-9495-83EFAF5626D3}" srcOrd="0" destOrd="0" parTransId="{6D886B50-D2C1-7149-B5F2-F1FD3A6622E3}" sibTransId="{81C9DE79-0B45-5B4C-B338-04F7C3DC93B0}"/>
    <dgm:cxn modelId="{FF296AAA-770F-0448-9CD2-7C1C6A99D427}" type="presOf" srcId="{6396E57C-F880-F14C-8386-EDEF131FA525}" destId="{3B06DACF-3807-4A4E-899A-88CC4585FEFF}" srcOrd="0" destOrd="0" presId="urn:microsoft.com/office/officeart/2005/8/layout/list1"/>
    <dgm:cxn modelId="{ED70E1C3-FD5F-1040-B492-C71D0234300A}" type="presOf" srcId="{714538D4-0C21-AD4A-A9A1-C88CAC16742F}" destId="{B74E65A6-1830-4041-8471-FBFD388757E0}" srcOrd="0" destOrd="0" presId="urn:microsoft.com/office/officeart/2005/8/layout/list1"/>
    <dgm:cxn modelId="{369793D6-4B4C-3E47-9B47-49198B126C2E}" type="presOf" srcId="{3688C101-64B0-FD45-9E75-8F554D425023}" destId="{8824E2B5-A8A3-6C48-925B-2AC65BFD3DAD}" srcOrd="1" destOrd="0" presId="urn:microsoft.com/office/officeart/2005/8/layout/list1"/>
    <dgm:cxn modelId="{4A221FD9-88FF-554C-B047-362AFD0472ED}" type="presOf" srcId="{43BA46F2-9366-5A4A-B422-065A23CC5F2F}" destId="{9F30F25F-F5C4-DC4F-955D-C158B80BA646}" srcOrd="0" destOrd="0" presId="urn:microsoft.com/office/officeart/2005/8/layout/list1"/>
    <dgm:cxn modelId="{1FA283ED-FBC0-1A47-88A9-B99A58543DDC}" srcId="{3688C101-64B0-FD45-9E75-8F554D425023}" destId="{714538D4-0C21-AD4A-A9A1-C88CAC16742F}" srcOrd="0" destOrd="0" parTransId="{629D510C-24F1-DC49-BA2E-02894E8F3D9D}" sibTransId="{B7508B32-A077-8345-9FA8-CE8581EAC8FB}"/>
    <dgm:cxn modelId="{F87F92F1-7837-CC42-8BAD-C7A41559FFC6}" type="presOf" srcId="{ECCADCE4-7928-C74D-9495-83EFAF5626D3}" destId="{A7047694-7466-9B44-B47B-4BA46A862969}" srcOrd="0" destOrd="0" presId="urn:microsoft.com/office/officeart/2005/8/layout/list1"/>
    <dgm:cxn modelId="{3A4449B9-C794-D04F-8CF7-2358E19B5ADF}" type="presParOf" srcId="{3B06DACF-3807-4A4E-899A-88CC4585FEFF}" destId="{C2F300E5-5CE7-2943-932B-FD2FC8EAA783}" srcOrd="0" destOrd="0" presId="urn:microsoft.com/office/officeart/2005/8/layout/list1"/>
    <dgm:cxn modelId="{B725C10B-61E7-A14D-B015-D0FDBF8A5B55}" type="presParOf" srcId="{C2F300E5-5CE7-2943-932B-FD2FC8EAA783}" destId="{5191E40F-F96A-A545-B69B-E79AF681B18F}" srcOrd="0" destOrd="0" presId="urn:microsoft.com/office/officeart/2005/8/layout/list1"/>
    <dgm:cxn modelId="{0247A128-D101-124C-ACA6-87C7C07225F1}" type="presParOf" srcId="{C2F300E5-5CE7-2943-932B-FD2FC8EAA783}" destId="{817E2792-1543-C04A-8C1D-B8C103CAE851}" srcOrd="1" destOrd="0" presId="urn:microsoft.com/office/officeart/2005/8/layout/list1"/>
    <dgm:cxn modelId="{25DB99F7-7F91-D640-959D-83B59F2F8EF5}" type="presParOf" srcId="{3B06DACF-3807-4A4E-899A-88CC4585FEFF}" destId="{F3145CE0-294E-B842-A463-61487297552E}" srcOrd="1" destOrd="0" presId="urn:microsoft.com/office/officeart/2005/8/layout/list1"/>
    <dgm:cxn modelId="{5DC4EAA4-3840-7548-B2DC-697446A88C9C}" type="presParOf" srcId="{3B06DACF-3807-4A4E-899A-88CC4585FEFF}" destId="{A7047694-7466-9B44-B47B-4BA46A862969}" srcOrd="2" destOrd="0" presId="urn:microsoft.com/office/officeart/2005/8/layout/list1"/>
    <dgm:cxn modelId="{EA8FCF07-3BC5-8B42-A463-849848F76B22}" type="presParOf" srcId="{3B06DACF-3807-4A4E-899A-88CC4585FEFF}" destId="{1570E3A1-41D1-0E40-B4B5-7DD07C366D52}" srcOrd="3" destOrd="0" presId="urn:microsoft.com/office/officeart/2005/8/layout/list1"/>
    <dgm:cxn modelId="{17168B60-B87E-2545-BFB0-6DACFA7B179C}" type="presParOf" srcId="{3B06DACF-3807-4A4E-899A-88CC4585FEFF}" destId="{1A9B67B2-6ADB-A647-8794-680FFD0F5345}" srcOrd="4" destOrd="0" presId="urn:microsoft.com/office/officeart/2005/8/layout/list1"/>
    <dgm:cxn modelId="{6A7FECBD-CB27-794F-AC02-C9DD817F5BCD}" type="presParOf" srcId="{1A9B67B2-6ADB-A647-8794-680FFD0F5345}" destId="{4AD0217B-2786-F047-BC5F-D974D27603B9}" srcOrd="0" destOrd="0" presId="urn:microsoft.com/office/officeart/2005/8/layout/list1"/>
    <dgm:cxn modelId="{28FABE1A-0148-1F45-8B39-CC672F170C9F}" type="presParOf" srcId="{1A9B67B2-6ADB-A647-8794-680FFD0F5345}" destId="{1044FC8D-8FC6-4F4D-A32C-05E9605255F2}" srcOrd="1" destOrd="0" presId="urn:microsoft.com/office/officeart/2005/8/layout/list1"/>
    <dgm:cxn modelId="{144EE989-1FF9-474A-92A4-AAAC256FFA1C}" type="presParOf" srcId="{3B06DACF-3807-4A4E-899A-88CC4585FEFF}" destId="{B6953830-A2F9-3D43-981F-D9634ECC3815}" srcOrd="5" destOrd="0" presId="urn:microsoft.com/office/officeart/2005/8/layout/list1"/>
    <dgm:cxn modelId="{6194D49D-F372-9D44-BF06-88C1509056C3}" type="presParOf" srcId="{3B06DACF-3807-4A4E-899A-88CC4585FEFF}" destId="{9F30F25F-F5C4-DC4F-955D-C158B80BA646}" srcOrd="6" destOrd="0" presId="urn:microsoft.com/office/officeart/2005/8/layout/list1"/>
    <dgm:cxn modelId="{848C92F3-9977-C541-BFC5-46D216316247}" type="presParOf" srcId="{3B06DACF-3807-4A4E-899A-88CC4585FEFF}" destId="{DE6DAE26-77D2-0A48-BC34-B77466994CD7}" srcOrd="7" destOrd="0" presId="urn:microsoft.com/office/officeart/2005/8/layout/list1"/>
    <dgm:cxn modelId="{9854ED4A-F573-484D-BF6D-082C2A5EE248}" type="presParOf" srcId="{3B06DACF-3807-4A4E-899A-88CC4585FEFF}" destId="{72B31508-0AFC-6E41-9464-84496B279A84}" srcOrd="8" destOrd="0" presId="urn:microsoft.com/office/officeart/2005/8/layout/list1"/>
    <dgm:cxn modelId="{303ED2F3-154F-864A-9468-37A02B33D3C9}" type="presParOf" srcId="{72B31508-0AFC-6E41-9464-84496B279A84}" destId="{BD5044B3-2F17-BF48-A952-E53B4787C296}" srcOrd="0" destOrd="0" presId="urn:microsoft.com/office/officeart/2005/8/layout/list1"/>
    <dgm:cxn modelId="{3A5E459A-C121-624F-9F1E-E10B2D258C9F}" type="presParOf" srcId="{72B31508-0AFC-6E41-9464-84496B279A84}" destId="{8824E2B5-A8A3-6C48-925B-2AC65BFD3DAD}" srcOrd="1" destOrd="0" presId="urn:microsoft.com/office/officeart/2005/8/layout/list1"/>
    <dgm:cxn modelId="{9C1E4BC3-1902-9B49-88ED-163D25508D8A}" type="presParOf" srcId="{3B06DACF-3807-4A4E-899A-88CC4585FEFF}" destId="{497DC238-C242-3344-B6BF-DB90DCE880D3}" srcOrd="9" destOrd="0" presId="urn:microsoft.com/office/officeart/2005/8/layout/list1"/>
    <dgm:cxn modelId="{51990615-9F9C-954D-9242-7802FF0F7727}" type="presParOf" srcId="{3B06DACF-3807-4A4E-899A-88CC4585FEFF}" destId="{B74E65A6-1830-4041-8471-FBFD388757E0}" srcOrd="10" destOrd="0" presId="urn:microsoft.com/office/officeart/2005/8/layout/list1"/>
    <dgm:cxn modelId="{DCA0AD50-EE14-9B44-ACE2-08786E996B9C}" type="presParOf" srcId="{3B06DACF-3807-4A4E-899A-88CC4585FEFF}" destId="{468E47AB-DA8C-944C-A318-C7ADF32B4A16}" srcOrd="11" destOrd="0" presId="urn:microsoft.com/office/officeart/2005/8/layout/list1"/>
    <dgm:cxn modelId="{AF21495D-A501-1C42-B997-72ADB74CA46A}" type="presParOf" srcId="{3B06DACF-3807-4A4E-899A-88CC4585FEFF}" destId="{7D9D9591-E49E-3440-8A59-D28EDEC3424D}" srcOrd="12" destOrd="0" presId="urn:microsoft.com/office/officeart/2005/8/layout/list1"/>
    <dgm:cxn modelId="{01D62D80-6DAA-7C4F-99CD-A3B2A095D19E}" type="presParOf" srcId="{7D9D9591-E49E-3440-8A59-D28EDEC3424D}" destId="{7B7B77F8-FC7D-8E4A-BDA2-9A14DEF4FF16}" srcOrd="0" destOrd="0" presId="urn:microsoft.com/office/officeart/2005/8/layout/list1"/>
    <dgm:cxn modelId="{9F9BB2C2-47DA-604F-9E8D-654E1A374B50}" type="presParOf" srcId="{7D9D9591-E49E-3440-8A59-D28EDEC3424D}" destId="{A4EE5422-842F-8748-A8F3-2AF6711A0F0F}" srcOrd="1" destOrd="0" presId="urn:microsoft.com/office/officeart/2005/8/layout/list1"/>
    <dgm:cxn modelId="{B8E2529D-C18E-4342-9DA8-065456059808}" type="presParOf" srcId="{3B06DACF-3807-4A4E-899A-88CC4585FEFF}" destId="{4ED40183-4DC4-4C46-8A9A-B56F38218572}" srcOrd="13" destOrd="0" presId="urn:microsoft.com/office/officeart/2005/8/layout/list1"/>
    <dgm:cxn modelId="{8B3E451D-DB10-424C-B212-1809962B3C9E}" type="presParOf" srcId="{3B06DACF-3807-4A4E-899A-88CC4585FEFF}" destId="{95C166CD-E907-044A-8372-07EA9D0A9C0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47694-7466-9B44-B47B-4BA46A862969}">
      <dsp:nvSpPr>
        <dsp:cNvPr id="0" name=""/>
        <dsp:cNvSpPr/>
      </dsp:nvSpPr>
      <dsp:spPr>
        <a:xfrm>
          <a:off x="0" y="337428"/>
          <a:ext cx="6486115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ADA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395" tIns="291592" rIns="50339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err="1"/>
            <a:t>Borrowing</a:t>
          </a:r>
          <a:r>
            <a:rPr lang="de-DE" sz="1400" kern="1200"/>
            <a:t> </a:t>
          </a:r>
          <a:r>
            <a:rPr lang="de-DE" sz="1400" kern="1200" err="1"/>
            <a:t>activity</a:t>
          </a:r>
          <a:r>
            <a:rPr lang="de-DE" sz="1400" kern="1200"/>
            <a:t> </a:t>
          </a:r>
          <a:r>
            <a:rPr lang="de-DE" sz="1400" kern="1200" err="1"/>
            <a:t>is</a:t>
          </a:r>
          <a:r>
            <a:rPr lang="de-DE" sz="1400" kern="1200"/>
            <a:t> </a:t>
          </a:r>
          <a:r>
            <a:rPr lang="de-DE" sz="1400" kern="1200" err="1"/>
            <a:t>higher</a:t>
          </a:r>
          <a:r>
            <a:rPr lang="de-DE" sz="1400" kern="1200"/>
            <a:t> </a:t>
          </a:r>
          <a:r>
            <a:rPr lang="de-DE" sz="1400" kern="1200" err="1"/>
            <a:t>during</a:t>
          </a:r>
          <a:r>
            <a:rPr lang="de-DE" sz="1400" kern="1200"/>
            <a:t> </a:t>
          </a:r>
          <a:r>
            <a:rPr lang="de-DE" sz="1400" kern="1200" err="1"/>
            <a:t>winter</a:t>
          </a:r>
          <a:r>
            <a:rPr lang="de-DE" sz="1400" kern="1200"/>
            <a:t> </a:t>
          </a:r>
          <a:r>
            <a:rPr lang="de-DE" sz="1400" kern="1200" err="1"/>
            <a:t>months</a:t>
          </a:r>
          <a:r>
            <a:rPr lang="de-DE" sz="1400" kern="1200"/>
            <a:t> </a:t>
          </a:r>
          <a:r>
            <a:rPr lang="de-DE" sz="1400" kern="1200" err="1"/>
            <a:t>or</a:t>
          </a:r>
          <a:r>
            <a:rPr lang="de-DE" sz="1400" kern="1200"/>
            <a:t> </a:t>
          </a:r>
          <a:r>
            <a:rPr lang="de-DE" sz="1400" kern="1200" err="1"/>
            <a:t>school</a:t>
          </a:r>
          <a:r>
            <a:rPr lang="de-DE" sz="1400" kern="1200"/>
            <a:t> </a:t>
          </a:r>
          <a:r>
            <a:rPr lang="de-DE" sz="1400" kern="1200" err="1"/>
            <a:t>terms</a:t>
          </a:r>
          <a:r>
            <a:rPr lang="de-DE" sz="1400" kern="1200"/>
            <a:t>.</a:t>
          </a:r>
        </a:p>
      </dsp:txBody>
      <dsp:txXfrm>
        <a:off x="0" y="337428"/>
        <a:ext cx="6486115" cy="573300"/>
      </dsp:txXfrm>
    </dsp:sp>
    <dsp:sp modelId="{817E2792-1543-C04A-8C1D-B8C103CAE851}">
      <dsp:nvSpPr>
        <dsp:cNvPr id="0" name=""/>
        <dsp:cNvSpPr/>
      </dsp:nvSpPr>
      <dsp:spPr>
        <a:xfrm>
          <a:off x="324305" y="130788"/>
          <a:ext cx="2896017" cy="413280"/>
        </a:xfrm>
        <a:prstGeom prst="roundRect">
          <a:avLst/>
        </a:prstGeom>
        <a:solidFill>
          <a:srgbClr val="89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12" tIns="0" rIns="17161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err="1"/>
            <a:t>Borrowing</a:t>
          </a:r>
          <a:r>
            <a:rPr lang="de-DE" sz="1400" kern="1200"/>
            <a:t> </a:t>
          </a:r>
          <a:r>
            <a:rPr lang="de-DE" sz="1400" kern="1200" err="1"/>
            <a:t>Behaviour</a:t>
          </a:r>
          <a:endParaRPr lang="de-DE" sz="1400" kern="1200"/>
        </a:p>
      </dsp:txBody>
      <dsp:txXfrm>
        <a:off x="344480" y="150963"/>
        <a:ext cx="2855667" cy="372930"/>
      </dsp:txXfrm>
    </dsp:sp>
    <dsp:sp modelId="{9F30F25F-F5C4-DC4F-955D-C158B80BA646}">
      <dsp:nvSpPr>
        <dsp:cNvPr id="0" name=""/>
        <dsp:cNvSpPr/>
      </dsp:nvSpPr>
      <dsp:spPr>
        <a:xfrm>
          <a:off x="0" y="1192968"/>
          <a:ext cx="6486115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ADA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395" tIns="291592" rIns="503395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Larger books are borrowed for longer periods.</a:t>
          </a:r>
        </a:p>
      </dsp:txBody>
      <dsp:txXfrm>
        <a:off x="0" y="1192968"/>
        <a:ext cx="6486115" cy="573300"/>
      </dsp:txXfrm>
    </dsp:sp>
    <dsp:sp modelId="{1044FC8D-8FC6-4F4D-A32C-05E9605255F2}">
      <dsp:nvSpPr>
        <dsp:cNvPr id="0" name=""/>
        <dsp:cNvSpPr/>
      </dsp:nvSpPr>
      <dsp:spPr>
        <a:xfrm>
          <a:off x="324305" y="986328"/>
          <a:ext cx="2896017" cy="413280"/>
        </a:xfrm>
        <a:prstGeom prst="roundRect">
          <a:avLst/>
        </a:prstGeom>
        <a:solidFill>
          <a:srgbClr val="89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12" tIns="0" rIns="17161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>
              <a:latin typeface="Helvetica"/>
              <a:cs typeface="Helvetica"/>
            </a:rPr>
            <a:t>Relationship between book size and borrowing duration</a:t>
          </a:r>
          <a:endParaRPr lang="de-DE" sz="1400" kern="1200"/>
        </a:p>
      </dsp:txBody>
      <dsp:txXfrm>
        <a:off x="344480" y="1006503"/>
        <a:ext cx="2855667" cy="372930"/>
      </dsp:txXfrm>
    </dsp:sp>
    <dsp:sp modelId="{B74E65A6-1830-4041-8471-FBFD388757E0}">
      <dsp:nvSpPr>
        <dsp:cNvPr id="0" name=""/>
        <dsp:cNvSpPr/>
      </dsp:nvSpPr>
      <dsp:spPr>
        <a:xfrm>
          <a:off x="0" y="2048508"/>
          <a:ext cx="6486115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ADA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395" tIns="291592" rIns="50339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err="1"/>
            <a:t>Is</a:t>
          </a:r>
          <a:r>
            <a:rPr lang="de-DE" sz="1400" kern="1200"/>
            <a:t> </a:t>
          </a:r>
          <a:r>
            <a:rPr lang="de-DE" sz="1400" kern="1200" err="1"/>
            <a:t>there</a:t>
          </a:r>
          <a:r>
            <a:rPr lang="de-DE" sz="1400" kern="1200"/>
            <a:t> a </a:t>
          </a:r>
          <a:r>
            <a:rPr lang="de-DE" sz="1400" kern="1200" err="1"/>
            <a:t>correlation</a:t>
          </a:r>
          <a:r>
            <a:rPr lang="de-DE" sz="1400" kern="1200"/>
            <a:t> </a:t>
          </a:r>
          <a:r>
            <a:rPr lang="de-DE" sz="1400" kern="1200" err="1"/>
            <a:t>between</a:t>
          </a:r>
          <a:r>
            <a:rPr lang="de-DE" sz="1400" kern="1200"/>
            <a:t> </a:t>
          </a:r>
          <a:r>
            <a:rPr lang="de-DE" sz="1400" kern="1200" err="1"/>
            <a:t>genre</a:t>
          </a:r>
          <a:r>
            <a:rPr lang="de-DE" sz="1400" kern="1200"/>
            <a:t> an </a:t>
          </a:r>
          <a:r>
            <a:rPr lang="de-DE" sz="1400" kern="1200" err="1"/>
            <a:t>overdue</a:t>
          </a:r>
          <a:r>
            <a:rPr lang="de-DE" sz="1400" kern="1200"/>
            <a:t> returns.</a:t>
          </a:r>
        </a:p>
      </dsp:txBody>
      <dsp:txXfrm>
        <a:off x="0" y="2048508"/>
        <a:ext cx="6486115" cy="573300"/>
      </dsp:txXfrm>
    </dsp:sp>
    <dsp:sp modelId="{8824E2B5-A8A3-6C48-925B-2AC65BFD3DAD}">
      <dsp:nvSpPr>
        <dsp:cNvPr id="0" name=""/>
        <dsp:cNvSpPr/>
      </dsp:nvSpPr>
      <dsp:spPr>
        <a:xfrm>
          <a:off x="324305" y="1841868"/>
          <a:ext cx="2896017" cy="413280"/>
        </a:xfrm>
        <a:prstGeom prst="roundRect">
          <a:avLst/>
        </a:prstGeom>
        <a:solidFill>
          <a:srgbClr val="89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12" tIns="0" rIns="17161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err="1"/>
            <a:t>Loan</a:t>
          </a:r>
          <a:r>
            <a:rPr lang="de-DE" sz="1400" kern="1200"/>
            <a:t> Duration and </a:t>
          </a:r>
          <a:r>
            <a:rPr lang="de-DE" sz="1400" kern="1200" err="1"/>
            <a:t>Punctuality</a:t>
          </a:r>
          <a:endParaRPr lang="de-DE" sz="1400" kern="1200"/>
        </a:p>
      </dsp:txBody>
      <dsp:txXfrm>
        <a:off x="344480" y="1862043"/>
        <a:ext cx="2855667" cy="372930"/>
      </dsp:txXfrm>
    </dsp:sp>
    <dsp:sp modelId="{95C166CD-E907-044A-8372-07EA9D0A9C03}">
      <dsp:nvSpPr>
        <dsp:cNvPr id="0" name=""/>
        <dsp:cNvSpPr/>
      </dsp:nvSpPr>
      <dsp:spPr>
        <a:xfrm>
          <a:off x="0" y="2904048"/>
          <a:ext cx="6486115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ADA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E5422-842F-8748-A8F3-2AF6711A0F0F}">
      <dsp:nvSpPr>
        <dsp:cNvPr id="0" name=""/>
        <dsp:cNvSpPr/>
      </dsp:nvSpPr>
      <dsp:spPr>
        <a:xfrm>
          <a:off x="324305" y="2697408"/>
          <a:ext cx="2896017" cy="413280"/>
        </a:xfrm>
        <a:prstGeom prst="roundRect">
          <a:avLst/>
        </a:prstGeom>
        <a:solidFill>
          <a:schemeClr val="bg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12" tIns="0" rIns="171612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...</a:t>
          </a:r>
        </a:p>
      </dsp:txBody>
      <dsp:txXfrm>
        <a:off x="344480" y="2717583"/>
        <a:ext cx="2855667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de-DE"/>
              <a:t>Simple </a:t>
            </a:r>
            <a:r>
              <a:rPr lang="de-DE" err="1"/>
              <a:t>introduction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kind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de-DE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de-DE"/>
              <a:t>-&gt; </a:t>
            </a:r>
            <a:r>
              <a:rPr lang="de-DE" err="1"/>
              <a:t>What</a:t>
            </a:r>
            <a:r>
              <a:rPr lang="de-DE"/>
              <a:t>, </a:t>
            </a:r>
            <a:r>
              <a:rPr lang="de-DE" err="1"/>
              <a:t>where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, </a:t>
            </a: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much</a:t>
            </a:r>
            <a:r>
              <a:rPr lang="de-DE"/>
              <a:t>,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…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de-DE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Core </a:t>
            </a:r>
            <a:r>
              <a:rPr lang="de-DE" err="1"/>
              <a:t>table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loan</a:t>
            </a:r>
            <a:r>
              <a:rPr lang="de-DE"/>
              <a:t> </a:t>
            </a:r>
            <a:r>
              <a:rPr lang="de-DE" err="1"/>
              <a:t>dataset</a:t>
            </a:r>
            <a:endParaRPr lang="de-DE"/>
          </a:p>
          <a:p>
            <a:endParaRPr lang="de-DE"/>
          </a:p>
          <a:p>
            <a:r>
              <a:rPr lang="de-DE"/>
              <a:t>Short </a:t>
            </a:r>
            <a:r>
              <a:rPr lang="de-DE" err="1"/>
              <a:t>description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columns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load</a:t>
            </a:r>
            <a:r>
              <a:rPr lang="de-DE"/>
              <a:t> </a:t>
            </a:r>
            <a:r>
              <a:rPr lang="de-DE" err="1"/>
              <a:t>dataset</a:t>
            </a:r>
            <a:r>
              <a:rPr lang="de-DE"/>
              <a:t> </a:t>
            </a:r>
            <a:r>
              <a:rPr lang="de-DE" err="1"/>
              <a:t>using</a:t>
            </a:r>
            <a:r>
              <a:rPr lang="de-DE"/>
              <a:t> a simple </a:t>
            </a:r>
            <a:r>
              <a:rPr lang="de-DE" err="1"/>
              <a:t>example</a:t>
            </a:r>
            <a:r>
              <a:rPr lang="de-DE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563539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584CD-1B7B-C2B1-66ED-41AB1E19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86AEAC-C478-A3DE-BF42-EF15FC882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4DE422-7CB1-8293-FE7F-B3C8829E3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Use Barcode (</a:t>
            </a:r>
            <a:r>
              <a:rPr lang="de-DE" err="1"/>
              <a:t>used</a:t>
            </a:r>
            <a:r>
              <a:rPr lang="de-DE"/>
              <a:t> just </a:t>
            </a:r>
            <a:r>
              <a:rPr lang="de-DE" err="1"/>
              <a:t>internally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libary</a:t>
            </a:r>
            <a:r>
              <a:rPr lang="de-DE"/>
              <a:t>)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Loan</a:t>
            </a:r>
            <a:r>
              <a:rPr lang="de-DE"/>
              <a:t> Table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identify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Book ISBN.</a:t>
            </a:r>
          </a:p>
          <a:p>
            <a:endParaRPr lang="de-DE"/>
          </a:p>
          <a:p>
            <a:r>
              <a:rPr lang="de-DE" b="0" i="0" u="none" strike="noStrike">
                <a:solidFill>
                  <a:srgbClr val="000000"/>
                </a:solidFill>
                <a:effectLst/>
              </a:rPr>
              <a:t>The ISBN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can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be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used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to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access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further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information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about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a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book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from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other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freely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available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data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sets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such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as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open Library.</a:t>
            </a:r>
          </a:p>
          <a:p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For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example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,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number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of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pages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or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content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. </a:t>
            </a:r>
          </a:p>
          <a:p>
            <a:endParaRPr lang="de-DE" b="0" i="0" u="none" strike="noStrike">
              <a:solidFill>
                <a:srgbClr val="000000"/>
              </a:solidFill>
              <a:effectLst/>
            </a:endParaRPr>
          </a:p>
          <a:p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Subject_people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-&gt; People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book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is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err="1">
                <a:solidFill>
                  <a:srgbClr val="000000"/>
                </a:solidFill>
                <a:effectLst/>
              </a:rPr>
              <a:t>about</a:t>
            </a:r>
            <a:r>
              <a:rPr lang="de-DE" b="0" i="0" u="none" strike="noStrike">
                <a:solidFill>
                  <a:srgbClr val="000000"/>
                </a:solidFill>
                <a:effectLst/>
              </a:rPr>
              <a:t>,…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1177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err="1"/>
              <a:t>Hauptsitz</a:t>
            </a:r>
            <a:r>
              <a:rPr lang="en-US"/>
              <a:t> </a:t>
            </a:r>
            <a:r>
              <a:rPr lang="en-US" err="1"/>
              <a:t>öffnungszeiten</a:t>
            </a:r>
            <a:r>
              <a:rPr lang="en-US"/>
              <a:t>:</a:t>
            </a:r>
          </a:p>
          <a:p>
            <a:pPr>
              <a:buNone/>
            </a:pPr>
            <a:r>
              <a:rPr lang="en-US"/>
              <a:t>Di bis Fr 10.30 bis 19 Uhr</a:t>
            </a:r>
          </a:p>
          <a:p>
            <a:pPr>
              <a:buNone/>
            </a:pPr>
            <a:r>
              <a:rPr lang="en-US"/>
              <a:t>Sa 10.30 bis 14 Uhr</a:t>
            </a:r>
          </a:p>
          <a:p>
            <a:pPr>
              <a:buNone/>
            </a:pPr>
            <a:r>
              <a:rPr lang="en-US"/>
              <a:t>Mo </a:t>
            </a:r>
            <a:r>
              <a:rPr lang="en-US" err="1"/>
              <a:t>geschlossen</a:t>
            </a:r>
          </a:p>
          <a:p>
            <a:pPr>
              <a:buNone/>
            </a:pPr>
            <a:r>
              <a:rPr lang="en-US"/>
              <a:t>Branch office hat andere Öffnungszeiten teilweise Montags offen.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151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err="1"/>
              <a:t>Bücherei</a:t>
            </a:r>
            <a:r>
              <a:rPr lang="en-US"/>
              <a:t> hat am 6.Mai </a:t>
            </a:r>
            <a:r>
              <a:rPr lang="en-US" err="1"/>
              <a:t>wieder</a:t>
            </a:r>
            <a:r>
              <a:rPr lang="en-US"/>
              <a:t> </a:t>
            </a:r>
            <a:r>
              <a:rPr lang="en-US" err="1"/>
              <a:t>aufgamacht</a:t>
            </a:r>
            <a:r>
              <a:rPr lang="en-US"/>
              <a:t>.</a:t>
            </a:r>
          </a:p>
          <a:p>
            <a:pPr>
              <a:buNone/>
            </a:pPr>
            <a:r>
              <a:rPr lang="en-US" err="1"/>
              <a:t>Vorher</a:t>
            </a:r>
            <a:r>
              <a:rPr lang="en-US"/>
              <a:t> </a:t>
            </a:r>
            <a:r>
              <a:rPr lang="en-US" err="1"/>
              <a:t>reservierung</a:t>
            </a:r>
            <a:r>
              <a:rPr lang="en-US"/>
              <a:t> </a:t>
            </a:r>
            <a:r>
              <a:rPr lang="en-US" err="1"/>
              <a:t>abholung</a:t>
            </a:r>
            <a:r>
              <a:rPr lang="en-US"/>
              <a:t> und </a:t>
            </a:r>
            <a:r>
              <a:rPr lang="en-US" err="1"/>
              <a:t>Lieferung</a:t>
            </a:r>
            <a:r>
              <a:rPr lang="en-US"/>
              <a:t> </a:t>
            </a:r>
            <a:r>
              <a:rPr lang="en-US" err="1"/>
              <a:t>nach</a:t>
            </a:r>
            <a:r>
              <a:rPr lang="en-US"/>
              <a:t> </a:t>
            </a:r>
            <a:r>
              <a:rPr lang="en-US" err="1"/>
              <a:t>hause</a:t>
            </a:r>
            <a:r>
              <a:rPr lang="en-US"/>
              <a:t> </a:t>
            </a:r>
            <a:r>
              <a:rPr lang="en-US" err="1"/>
              <a:t>möglich</a:t>
            </a:r>
            <a:r>
              <a:rPr lang="en-US"/>
              <a:t> </a:t>
            </a:r>
            <a:r>
              <a:rPr lang="en-US" err="1"/>
              <a:t>aber</a:t>
            </a:r>
            <a:r>
              <a:rPr lang="en-US"/>
              <a:t> </a:t>
            </a:r>
            <a:r>
              <a:rPr lang="en-US" err="1"/>
              <a:t>eingeschränkt</a:t>
            </a:r>
            <a:endParaRPr lang="en-US"/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8402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 b="1" err="1"/>
              <a:t>Sachbuch</a:t>
            </a:r>
            <a:r>
              <a:rPr lang="en-US"/>
              <a:t> → Non-fiction</a:t>
            </a:r>
          </a:p>
          <a:p>
            <a:pPr marL="171450" indent="-171450"/>
            <a:r>
              <a:rPr lang="en-US" b="1"/>
              <a:t>Kinder u. </a:t>
            </a:r>
            <a:r>
              <a:rPr lang="en-US" b="1" err="1"/>
              <a:t>Jugendbuch</a:t>
            </a:r>
            <a:r>
              <a:rPr lang="en-US"/>
              <a:t> → Children’s and young adult book</a:t>
            </a:r>
          </a:p>
          <a:p>
            <a:pPr marL="171450" indent="-171450"/>
            <a:r>
              <a:rPr lang="en-US" b="1"/>
              <a:t>DVD</a:t>
            </a:r>
            <a:r>
              <a:rPr lang="en-US"/>
              <a:t> → DVD</a:t>
            </a:r>
          </a:p>
          <a:p>
            <a:pPr marL="171450" indent="-171450"/>
            <a:r>
              <a:rPr lang="en-US" b="1" err="1"/>
              <a:t>Belletristik</a:t>
            </a:r>
            <a:r>
              <a:rPr lang="en-US"/>
              <a:t> → Fiction</a:t>
            </a:r>
          </a:p>
          <a:p>
            <a:pPr marL="171450" indent="-171450"/>
            <a:r>
              <a:rPr lang="en-US" b="1"/>
              <a:t>Musik-CD</a:t>
            </a:r>
            <a:r>
              <a:rPr lang="en-US"/>
              <a:t> → Music CD</a:t>
            </a:r>
          </a:p>
          <a:p>
            <a:pPr marL="171450" indent="-171450"/>
            <a:r>
              <a:rPr lang="en-US" b="1" err="1"/>
              <a:t>Hörbuch</a:t>
            </a:r>
            <a:r>
              <a:rPr lang="en-US"/>
              <a:t> → Audiobook</a:t>
            </a:r>
          </a:p>
          <a:p>
            <a:pPr marL="171450" indent="-171450"/>
            <a:r>
              <a:rPr lang="en-US" b="1"/>
              <a:t>Kinder u. </a:t>
            </a:r>
            <a:r>
              <a:rPr lang="en-US" b="1" err="1"/>
              <a:t>Jugend</a:t>
            </a:r>
            <a:r>
              <a:rPr lang="en-US" b="1"/>
              <a:t>-CD</a:t>
            </a:r>
            <a:r>
              <a:rPr lang="en-US"/>
              <a:t> → Children’s and young adult CD</a:t>
            </a:r>
          </a:p>
          <a:p>
            <a:pPr marL="171450" indent="-171450"/>
            <a:r>
              <a:rPr lang="en-US" b="1"/>
              <a:t>Comic</a:t>
            </a:r>
            <a:r>
              <a:rPr lang="en-US"/>
              <a:t> → Comic</a:t>
            </a:r>
          </a:p>
          <a:p>
            <a:pPr marL="171450" indent="-171450"/>
            <a:r>
              <a:rPr lang="en-US" b="1" err="1"/>
              <a:t>Zeitschriften</a:t>
            </a:r>
            <a:r>
              <a:rPr lang="en-US"/>
              <a:t> → Magazines</a:t>
            </a:r>
          </a:p>
          <a:p>
            <a:pPr marL="171450" indent="-171450"/>
            <a:r>
              <a:rPr lang="en-US" b="1"/>
              <a:t>Blu-Ray</a:t>
            </a:r>
            <a:r>
              <a:rPr lang="en-US"/>
              <a:t> → Blu-ray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4272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336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,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course</a:t>
            </a:r>
            <a:r>
              <a:rPr lang="de-DE"/>
              <a:t>, </a:t>
            </a:r>
            <a:r>
              <a:rPr lang="de-DE" err="1"/>
              <a:t>already</a:t>
            </a:r>
            <a:r>
              <a:rPr lang="de-DE"/>
              <a:t> </a:t>
            </a:r>
            <a:r>
              <a:rPr lang="de-DE" err="1"/>
              <a:t>performed</a:t>
            </a:r>
            <a:r>
              <a:rPr lang="de-DE"/>
              <a:t> an initial </a:t>
            </a:r>
            <a:r>
              <a:rPr lang="de-DE" err="1"/>
              <a:t>exploratory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analysis</a:t>
            </a:r>
            <a:r>
              <a:rPr lang="de-DE"/>
              <a:t> in </a:t>
            </a:r>
            <a:r>
              <a:rPr lang="de-DE" err="1"/>
              <a:t>order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select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project</a:t>
            </a:r>
            <a:r>
              <a:rPr lang="de-DE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009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13225" y="539500"/>
            <a:ext cx="3785700" cy="25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13225" y="3066049"/>
            <a:ext cx="3785700" cy="15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4645100" y="1453575"/>
            <a:ext cx="3785700" cy="369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12" name="Google Shape;12;p2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18F24E-0635-6D80-2FF9-CACCF7BB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F7EC-5742-DD41-A6B0-F68FD2D3BE82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45A389F-7F85-8CD8-B2F1-0F05512577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1" name="Google Shape;31;p6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36D03F-E6BF-8F58-EFF8-390D6251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68F3-87E9-FE4E-AA08-C0B7AD6BA136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80EA56-1799-60A5-9D3E-B0AA0DC7D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39" name="Google Shape;39;p8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FC6E95-DEB0-4818-5BFC-BD41F122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75B2-368B-964F-8ECF-DBB95AA98B25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8B9D4D-D9F4-27B0-75EE-36B7C7126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0" name="Google Shape;50;p11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F9B466-B52E-114B-11F9-DB4EDD83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EEE0F-096E-144E-BD38-B55BC5E42888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0A69A9-E38D-9F38-BA80-FF7DFCABCC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7132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2"/>
          </p:nvPr>
        </p:nvSpPr>
        <p:spPr>
          <a:xfrm>
            <a:off x="33367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59602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713225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5"/>
          </p:nvPr>
        </p:nvSpPr>
        <p:spPr>
          <a:xfrm>
            <a:off x="3336729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6"/>
          </p:nvPr>
        </p:nvSpPr>
        <p:spPr>
          <a:xfrm>
            <a:off x="5960225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cxnSp>
        <p:nvCxnSpPr>
          <p:cNvPr id="87" name="Google Shape;87;p17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3B6B38-8103-43A2-FF78-F30C0283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08055-AA75-FF42-9700-6F326D1FD435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182643-E328-4AB9-C92F-9A53833D26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20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FB0B1D-E044-7745-D847-887D5FEA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CE10-93E9-554D-9A4B-00DE9725674A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5FC162-D327-BEE9-246A-6AD72B5786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EF5923-3682-901F-123B-78B1497F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588D-ED54-4D48-A5AC-9B6EEC46F3AD}" type="datetime3">
              <a:rPr lang="de-DE" smtClean="0"/>
              <a:t>17/11/25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B10C5F6-15E2-E10C-D6F4-6FEC6A50F8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C1C53-E530-910D-34E2-46FD418E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4A5983-92A6-040C-DE74-04B5C70C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C5AF-F543-D541-96C2-A49747329370}" type="datetime3">
              <a:rPr lang="de-DE" smtClean="0"/>
              <a:t>17/11/25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E4A8B1-7168-4B83-18C3-03BE385932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  <p:sp>
        <p:nvSpPr>
          <p:cNvPr id="5" name="Google Shape;7;p1">
            <a:extLst>
              <a:ext uri="{FF2B5EF4-FFF2-40B4-BE49-F238E27FC236}">
                <a16:creationId xmlns:a16="http://schemas.microsoft.com/office/drawing/2014/main" id="{13CAA069-770E-BE64-D60B-CD19BE7584E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307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21F61B-A829-1C16-C117-F0A6C292F8BC}"/>
              </a:ext>
            </a:extLst>
          </p:cNvPr>
          <p:cNvSpPr txBox="1"/>
          <p:nvPr userDrawn="1"/>
        </p:nvSpPr>
        <p:spPr>
          <a:xfrm>
            <a:off x="713225" y="4698475"/>
            <a:ext cx="748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548B0B-E70C-C385-568E-5E7D4D6BD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288B9-CEB5-DB46-A3C2-2F91603F67B0}" type="datetime3">
              <a:rPr lang="de-DE" smtClean="0"/>
              <a:t>17/11/25</a:t>
            </a:fld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198FDB3-D6ED-D4EC-705C-598E6A2A5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BB434-C8DE-8F46-9B56-30D3A344C26A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6" r:id="rId4"/>
    <p:sldLayoutId id="2147483673" r:id="rId5"/>
    <p:sldLayoutId id="2147483657" r:id="rId6"/>
    <p:sldLayoutId id="2147483663" r:id="rId7"/>
    <p:sldLayoutId id="2147483666" r:id="rId8"/>
    <p:sldLayoutId id="2147483667" r:id="rId9"/>
    <p:sldLayoutId id="2147483674" r:id="rId10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ctrTitle"/>
          </p:nvPr>
        </p:nvSpPr>
        <p:spPr>
          <a:xfrm flipH="1">
            <a:off x="2679150" y="1802749"/>
            <a:ext cx="3785700" cy="769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>
                <a:solidFill>
                  <a:schemeClr val="dk2"/>
                </a:solidFill>
              </a:rPr>
              <a:t>Data Literacy</a:t>
            </a:r>
            <a:endParaRPr lang="en-US" b="1" noProof="0">
              <a:solidFill>
                <a:schemeClr val="dk2"/>
              </a:solidFill>
            </a:endParaRPr>
          </a:p>
        </p:txBody>
      </p:sp>
      <p:sp>
        <p:nvSpPr>
          <p:cNvPr id="125" name="Google Shape;125;p26"/>
          <p:cNvSpPr txBox="1">
            <a:spLocks noGrp="1"/>
          </p:cNvSpPr>
          <p:nvPr>
            <p:ph type="subTitle" idx="1"/>
          </p:nvPr>
        </p:nvSpPr>
        <p:spPr>
          <a:xfrm flipH="1">
            <a:off x="2506638" y="2488534"/>
            <a:ext cx="4130724" cy="15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/>
              <a:t>Nico Rinck, Robin Allgeier, Adriano Polzer, Jonas Mahr, Jannik Rombach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/>
              <a:t>Our </a:t>
            </a:r>
            <a:r>
              <a:rPr lang="en-US" b="1" noProof="0"/>
              <a:t>data</a:t>
            </a:r>
          </a:p>
        </p:txBody>
      </p:sp>
      <p:sp>
        <p:nvSpPr>
          <p:cNvPr id="230" name="Google Shape;230;p33"/>
          <p:cNvSpPr txBox="1">
            <a:spLocks noGrp="1"/>
          </p:cNvSpPr>
          <p:nvPr>
            <p:ph type="subTitle" idx="1"/>
          </p:nvPr>
        </p:nvSpPr>
        <p:spPr>
          <a:xfrm>
            <a:off x="720000" y="2466701"/>
            <a:ext cx="3257197" cy="5816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noProof="0"/>
              <a:t>Borrowing data with item, loan, and return details.</a:t>
            </a:r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4"/>
          </p:nvPr>
        </p:nvSpPr>
        <p:spPr>
          <a:xfrm>
            <a:off x="720000" y="2153065"/>
            <a:ext cx="3257196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noProof="0"/>
              <a:t>Public Library Tübingen</a:t>
            </a:r>
          </a:p>
        </p:txBody>
      </p:sp>
      <p:sp>
        <p:nvSpPr>
          <p:cNvPr id="27" name="Google Shape;266;p35">
            <a:extLst>
              <a:ext uri="{FF2B5EF4-FFF2-40B4-BE49-F238E27FC236}">
                <a16:creationId xmlns:a16="http://schemas.microsoft.com/office/drawing/2014/main" id="{2A2B264A-5C30-933D-DD26-6E390FC7D59D}"/>
              </a:ext>
            </a:extLst>
          </p:cNvPr>
          <p:cNvSpPr txBox="1"/>
          <p:nvPr/>
        </p:nvSpPr>
        <p:spPr>
          <a:xfrm>
            <a:off x="4786643" y="1510549"/>
            <a:ext cx="3785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noProof="0"/>
              <a:t>~2.3 million</a:t>
            </a:r>
          </a:p>
        </p:txBody>
      </p:sp>
      <p:sp>
        <p:nvSpPr>
          <p:cNvPr id="28" name="Google Shape;267;p35">
            <a:extLst>
              <a:ext uri="{FF2B5EF4-FFF2-40B4-BE49-F238E27FC236}">
                <a16:creationId xmlns:a16="http://schemas.microsoft.com/office/drawing/2014/main" id="{8D2CF8A7-5043-0272-BB87-CE2E3E57FA44}"/>
              </a:ext>
            </a:extLst>
          </p:cNvPr>
          <p:cNvSpPr txBox="1"/>
          <p:nvPr/>
        </p:nvSpPr>
        <p:spPr>
          <a:xfrm>
            <a:off x="4786643" y="1977115"/>
            <a:ext cx="3785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Records</a:t>
            </a:r>
          </a:p>
        </p:txBody>
      </p:sp>
      <p:sp>
        <p:nvSpPr>
          <p:cNvPr id="30" name="Google Shape;266;p35">
            <a:extLst>
              <a:ext uri="{FF2B5EF4-FFF2-40B4-BE49-F238E27FC236}">
                <a16:creationId xmlns:a16="http://schemas.microsoft.com/office/drawing/2014/main" id="{5C3D0DBA-A70B-0F2E-8666-1C4D127940BF}"/>
              </a:ext>
            </a:extLst>
          </p:cNvPr>
          <p:cNvSpPr txBox="1"/>
          <p:nvPr/>
        </p:nvSpPr>
        <p:spPr>
          <a:xfrm>
            <a:off x="4786643" y="2795580"/>
            <a:ext cx="3785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noProof="0">
                <a:sym typeface="Inria Serif"/>
              </a:rPr>
              <a:t>2019 – Nov. 2025</a:t>
            </a:r>
          </a:p>
        </p:txBody>
      </p:sp>
      <p:sp>
        <p:nvSpPr>
          <p:cNvPr id="31" name="Google Shape;267;p35">
            <a:extLst>
              <a:ext uri="{FF2B5EF4-FFF2-40B4-BE49-F238E27FC236}">
                <a16:creationId xmlns:a16="http://schemas.microsoft.com/office/drawing/2014/main" id="{B4987D3D-8B82-826C-9F8A-ED0A9EA88855}"/>
              </a:ext>
            </a:extLst>
          </p:cNvPr>
          <p:cNvSpPr txBox="1"/>
          <p:nvPr/>
        </p:nvSpPr>
        <p:spPr>
          <a:xfrm>
            <a:off x="4786643" y="3262146"/>
            <a:ext cx="3785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Time Period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D86F121-F4F0-158A-48BE-A6C92BDE144B}"/>
              </a:ext>
            </a:extLst>
          </p:cNvPr>
          <p:cNvSpPr txBox="1"/>
          <p:nvPr/>
        </p:nvSpPr>
        <p:spPr>
          <a:xfrm>
            <a:off x="781396" y="4871258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F401BE-4933-86FA-FD13-3FD87E0B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1A1C4-D6D3-6A48-AC1D-0A63FB9D6745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8C8994-F4AE-1D76-7F03-DC786A4BF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2</a:t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BA241A-0681-1794-C757-E1A66FBB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90A1-F2BE-7C41-8CAD-86291DE0F63C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9C44F1-0B98-280F-CB04-F50517D2CD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3</a:t>
            </a:fld>
            <a:endParaRPr lang="en-US" noProof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7B3DD803-7613-E0C5-DCAE-BA978D17B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18999"/>
              </p:ext>
            </p:extLst>
          </p:nvPr>
        </p:nvGraphicFramePr>
        <p:xfrm>
          <a:off x="1812646" y="483870"/>
          <a:ext cx="5674004" cy="4175760"/>
        </p:xfrm>
        <a:graphic>
          <a:graphicData uri="http://schemas.openxmlformats.org/drawingml/2006/table">
            <a:tbl>
              <a:tblPr firstRow="1" bandRow="1">
                <a:tableStyleId>{6BCA7C44-A6FF-4866-8727-2BB07229C163}</a:tableStyleId>
              </a:tblPr>
              <a:tblGrid>
                <a:gridCol w="1776730">
                  <a:extLst>
                    <a:ext uri="{9D8B030D-6E8A-4147-A177-3AD203B41FA5}">
                      <a16:colId xmlns:a16="http://schemas.microsoft.com/office/drawing/2014/main" val="2382571300"/>
                    </a:ext>
                  </a:extLst>
                </a:gridCol>
                <a:gridCol w="3897274">
                  <a:extLst>
                    <a:ext uri="{9D8B030D-6E8A-4147-A177-3AD203B41FA5}">
                      <a16:colId xmlns:a16="http://schemas.microsoft.com/office/drawing/2014/main" val="573277444"/>
                    </a:ext>
                  </a:extLst>
                </a:gridCol>
              </a:tblGrid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issue_id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2668875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9095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Loan date/time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2024-01-02 11:14:41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7339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Return date/time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2024-02-02 12:07:58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0165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500859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Overdue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9743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Days overdue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4630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Collection code (CCODE)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kisl1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92424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Media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Children‘s 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36845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16153567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89278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Leo Lausemaus will sich nicht die Zähne putzen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48153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3984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Interest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 grow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65100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User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32904"/>
                  </a:ext>
                </a:extLst>
              </a:tr>
            </a:tbl>
          </a:graphicData>
        </a:graphic>
      </p:graphicFrame>
      <p:sp>
        <p:nvSpPr>
          <p:cNvPr id="10" name="Google Shape;233;p33">
            <a:extLst>
              <a:ext uri="{FF2B5EF4-FFF2-40B4-BE49-F238E27FC236}">
                <a16:creationId xmlns:a16="http://schemas.microsoft.com/office/drawing/2014/main" id="{3DFEA17F-17AC-6AA3-5646-878A2631EBF5}"/>
              </a:ext>
            </a:extLst>
          </p:cNvPr>
          <p:cNvSpPr txBox="1">
            <a:spLocks/>
          </p:cNvSpPr>
          <p:nvPr/>
        </p:nvSpPr>
        <p:spPr>
          <a:xfrm>
            <a:off x="691871" y="2332990"/>
            <a:ext cx="895350" cy="47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/>
              <a:t>Loans</a:t>
            </a:r>
            <a:endParaRPr lang="en-US" b="1" noProof="0"/>
          </a:p>
        </p:txBody>
      </p:sp>
    </p:spTree>
    <p:extLst>
      <p:ext uri="{BB962C8B-B14F-4D97-AF65-F5344CB8AC3E}">
        <p14:creationId xmlns:p14="http://schemas.microsoft.com/office/powerpoint/2010/main" val="354210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3D6E-5028-9282-E1F5-A3DDEF8A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B49357-DA00-D430-C118-EFB2D0F4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F6AC-3960-BD4B-AA25-72F990FB4668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347870-3708-E2A1-2D62-8337CF1167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4</a:t>
            </a:fld>
            <a:endParaRPr lang="en-US" noProof="0"/>
          </a:p>
        </p:txBody>
      </p:sp>
      <p:sp>
        <p:nvSpPr>
          <p:cNvPr id="7" name="Google Shape;230;p33">
            <a:extLst>
              <a:ext uri="{FF2B5EF4-FFF2-40B4-BE49-F238E27FC236}">
                <a16:creationId xmlns:a16="http://schemas.microsoft.com/office/drawing/2014/main" id="{5A560487-F3D0-B707-3940-CB13243D4326}"/>
              </a:ext>
            </a:extLst>
          </p:cNvPr>
          <p:cNvSpPr txBox="1">
            <a:spLocks/>
          </p:cNvSpPr>
          <p:nvPr/>
        </p:nvSpPr>
        <p:spPr>
          <a:xfrm>
            <a:off x="548640" y="376236"/>
            <a:ext cx="1158239" cy="3667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noProof="0"/>
              <a:t>Library Tübingen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DDA56D2-C03A-D6F9-BE81-A63A543FC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63165"/>
              </p:ext>
            </p:extLst>
          </p:nvPr>
        </p:nvGraphicFramePr>
        <p:xfrm>
          <a:off x="4820641" y="3534588"/>
          <a:ext cx="1046480" cy="609600"/>
        </p:xfrm>
        <a:graphic>
          <a:graphicData uri="http://schemas.openxmlformats.org/drawingml/2006/table">
            <a:tbl>
              <a:tblPr firstRow="1" bandRow="1">
                <a:tableStyleId>{6BCA7C44-A6FF-4866-8727-2BB07229C163}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382571300"/>
                    </a:ext>
                  </a:extLst>
                </a:gridCol>
              </a:tblGrid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Barcode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9095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ISBN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73393"/>
                  </a:ext>
                </a:extLst>
              </a:tr>
            </a:tbl>
          </a:graphicData>
        </a:graphic>
      </p:graphicFrame>
      <p:sp>
        <p:nvSpPr>
          <p:cNvPr id="17" name="Google Shape;233;p33">
            <a:extLst>
              <a:ext uri="{FF2B5EF4-FFF2-40B4-BE49-F238E27FC236}">
                <a16:creationId xmlns:a16="http://schemas.microsoft.com/office/drawing/2014/main" id="{C09F53D5-44C4-88C1-726C-316CA3F5D925}"/>
              </a:ext>
            </a:extLst>
          </p:cNvPr>
          <p:cNvSpPr txBox="1">
            <a:spLocks/>
          </p:cNvSpPr>
          <p:nvPr/>
        </p:nvSpPr>
        <p:spPr>
          <a:xfrm>
            <a:off x="3774161" y="3619589"/>
            <a:ext cx="1046480" cy="47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 noProof="0"/>
              <a:t>Books</a:t>
            </a:r>
          </a:p>
        </p:txBody>
      </p:sp>
      <p:graphicFrame>
        <p:nvGraphicFramePr>
          <p:cNvPr id="18" name="Tabelle 17">
            <a:extLst>
              <a:ext uri="{FF2B5EF4-FFF2-40B4-BE49-F238E27FC236}">
                <a16:creationId xmlns:a16="http://schemas.microsoft.com/office/drawing/2014/main" id="{9793CCFD-1840-FC13-5E85-0E2A73D89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416285"/>
              </p:ext>
            </p:extLst>
          </p:nvPr>
        </p:nvGraphicFramePr>
        <p:xfrm>
          <a:off x="1812646" y="483870"/>
          <a:ext cx="1776730" cy="4175760"/>
        </p:xfrm>
        <a:graphic>
          <a:graphicData uri="http://schemas.openxmlformats.org/drawingml/2006/table">
            <a:tbl>
              <a:tblPr firstRow="1" bandRow="1">
                <a:tableStyleId>{6BCA7C44-A6FF-4866-8727-2BB07229C163}</a:tableStyleId>
              </a:tblPr>
              <a:tblGrid>
                <a:gridCol w="1776730">
                  <a:extLst>
                    <a:ext uri="{9D8B030D-6E8A-4147-A177-3AD203B41FA5}">
                      <a16:colId xmlns:a16="http://schemas.microsoft.com/office/drawing/2014/main" val="2382571300"/>
                    </a:ext>
                  </a:extLst>
                </a:gridCol>
              </a:tblGrid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issue_id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9095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Loan date/time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7339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Return date/time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0165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Loan period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500859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Overdue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9743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Days overdue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4630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Collection code (CCODE)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92424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Media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36845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Barcode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89278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Titel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48153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Author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3984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Interest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65100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User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32904"/>
                  </a:ext>
                </a:extLst>
              </a:tr>
            </a:tbl>
          </a:graphicData>
        </a:graphic>
      </p:graphicFrame>
      <p:sp>
        <p:nvSpPr>
          <p:cNvPr id="19" name="Google Shape;233;p33">
            <a:extLst>
              <a:ext uri="{FF2B5EF4-FFF2-40B4-BE49-F238E27FC236}">
                <a16:creationId xmlns:a16="http://schemas.microsoft.com/office/drawing/2014/main" id="{ECE4A0B5-7E70-D485-7CA0-96A4E07B000C}"/>
              </a:ext>
            </a:extLst>
          </p:cNvPr>
          <p:cNvSpPr txBox="1">
            <a:spLocks/>
          </p:cNvSpPr>
          <p:nvPr/>
        </p:nvSpPr>
        <p:spPr>
          <a:xfrm>
            <a:off x="691871" y="2332990"/>
            <a:ext cx="895350" cy="47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 noProof="0"/>
              <a:t>Loans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52992B6-B6A8-AFE1-E0B8-7FB7C84D6177}"/>
              </a:ext>
            </a:extLst>
          </p:cNvPr>
          <p:cNvSpPr/>
          <p:nvPr/>
        </p:nvSpPr>
        <p:spPr>
          <a:xfrm>
            <a:off x="548640" y="376235"/>
            <a:ext cx="5567680" cy="439102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32" name="Gewinkelte Verbindung 31">
            <a:extLst>
              <a:ext uri="{FF2B5EF4-FFF2-40B4-BE49-F238E27FC236}">
                <a16:creationId xmlns:a16="http://schemas.microsoft.com/office/drawing/2014/main" id="{DAE2711A-1AE6-1E26-0CB0-7E4DCA54B15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89376" y="3272334"/>
            <a:ext cx="1754505" cy="262254"/>
          </a:xfrm>
          <a:prstGeom prst="bentConnector2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2DB5BEB0-76AA-2596-FD2E-2C2539F40CA7}"/>
              </a:ext>
            </a:extLst>
          </p:cNvPr>
          <p:cNvCxnSpPr>
            <a:cxnSpLocks/>
          </p:cNvCxnSpPr>
          <p:nvPr/>
        </p:nvCxnSpPr>
        <p:spPr>
          <a:xfrm>
            <a:off x="548640" y="376236"/>
            <a:ext cx="0" cy="4391027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C7C47E51-C2FB-8E52-5D67-49564147F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051" y="1381991"/>
            <a:ext cx="1553299" cy="9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Gewinkelte Verbindung 35">
            <a:extLst>
              <a:ext uri="{FF2B5EF4-FFF2-40B4-BE49-F238E27FC236}">
                <a16:creationId xmlns:a16="http://schemas.microsoft.com/office/drawing/2014/main" id="{3CD8F664-1502-AB96-EE06-EBD4C7418915}"/>
              </a:ext>
            </a:extLst>
          </p:cNvPr>
          <p:cNvCxnSpPr>
            <a:cxnSpLocks/>
            <a:stCxn id="9" idx="3"/>
            <a:endCxn id="1026" idx="1"/>
          </p:cNvCxnSpPr>
          <p:nvPr/>
        </p:nvCxnSpPr>
        <p:spPr>
          <a:xfrm flipV="1">
            <a:off x="5867121" y="1857491"/>
            <a:ext cx="1094930" cy="1981897"/>
          </a:xfrm>
          <a:prstGeom prst="bentConnector3">
            <a:avLst>
              <a:gd name="adj1" fmla="val 50000"/>
            </a:avLst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elle 58">
            <a:extLst>
              <a:ext uri="{FF2B5EF4-FFF2-40B4-BE49-F238E27FC236}">
                <a16:creationId xmlns:a16="http://schemas.microsoft.com/office/drawing/2014/main" id="{B643DE75-7AF6-F895-9B1B-5A75DEA9F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53093"/>
              </p:ext>
            </p:extLst>
          </p:nvPr>
        </p:nvGraphicFramePr>
        <p:xfrm>
          <a:off x="6774430" y="2332990"/>
          <a:ext cx="1928541" cy="2133600"/>
        </p:xfrm>
        <a:graphic>
          <a:graphicData uri="http://schemas.openxmlformats.org/drawingml/2006/table">
            <a:tbl>
              <a:tblPr firstRow="1" bandRow="1">
                <a:tableStyleId>{6BCA7C44-A6FF-4866-8727-2BB07229C163}</a:tableStyleId>
              </a:tblPr>
              <a:tblGrid>
                <a:gridCol w="1928541">
                  <a:extLst>
                    <a:ext uri="{9D8B030D-6E8A-4147-A177-3AD203B41FA5}">
                      <a16:colId xmlns:a16="http://schemas.microsoft.com/office/drawing/2014/main" val="2382571300"/>
                    </a:ext>
                  </a:extLst>
                </a:gridCol>
              </a:tblGrid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ISBN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90958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Publish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73393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Page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27941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Subject 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404290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Subject places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53624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Subject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198469"/>
                  </a:ext>
                </a:extLst>
              </a:tr>
              <a:tr h="260057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335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81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C9D92BF-1623-681C-1639-1F729DD7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68F3-87E9-FE4E-AA08-C0B7AD6BA136}" type="datetime3">
              <a:rPr lang="de-DE" smtClean="0"/>
              <a:t>17/11/25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4EC09A-4714-07DE-1FED-548143179A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5</a:t>
            </a:fld>
            <a:endParaRPr lang="de-DE"/>
          </a:p>
        </p:txBody>
      </p:sp>
      <p:pic>
        <p:nvPicPr>
          <p:cNvPr id="5" name="Grafik 4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456ADDB3-02A4-FBE0-B4C2-448EDCB2F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7" y="678761"/>
            <a:ext cx="7768167" cy="378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6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C7C1-C8E2-9940-55F2-7365C33C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9DCCD6-D204-6E7F-F5D8-7472F856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68F3-87E9-FE4E-AA08-C0B7AD6BA136}" type="datetime3">
              <a:rPr lang="de-DE" smtClean="0"/>
              <a:t>17/11/25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4D2E67-DA10-07AF-C327-16862CD4B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6</a:t>
            </a:fld>
            <a:endParaRPr lang="de-DE"/>
          </a:p>
        </p:txBody>
      </p:sp>
      <p:pic>
        <p:nvPicPr>
          <p:cNvPr id="2" name="Grafik 1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5611F87-4FB3-E452-9BAF-0620DAD4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08" y="440637"/>
            <a:ext cx="8519584" cy="425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5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3EBB-4C5A-F72A-6BDF-C199306B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E165B9-5203-887C-D98D-60923C3C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68F3-87E9-FE4E-AA08-C0B7AD6BA136}" type="datetime3">
              <a:rPr lang="de-DE" smtClean="0"/>
              <a:t>17/11/25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BF5862-041F-3069-EF41-15259842E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7</a:t>
            </a:fld>
            <a:endParaRPr lang="de-DE"/>
          </a:p>
        </p:txBody>
      </p:sp>
      <p:pic>
        <p:nvPicPr>
          <p:cNvPr id="5" name="Grafik 4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19EBA0D3-5EA7-2281-CF0F-0E29F92C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0" y="467623"/>
            <a:ext cx="8417859" cy="421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8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28D4-FB99-284B-136B-BDD3456F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956AD3-D9C3-7ABB-450E-FA9C5592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68F3-87E9-FE4E-AA08-C0B7AD6BA136}" type="datetime3">
              <a:rPr lang="de-DE" smtClean="0"/>
              <a:t>17/11/25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E1CFF3-721A-72B3-B52A-F67B1AB903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8</a:t>
            </a:fld>
            <a:endParaRPr lang="de-DE"/>
          </a:p>
        </p:txBody>
      </p:sp>
      <p:pic>
        <p:nvPicPr>
          <p:cNvPr id="2" name="Grafik 1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EC6E538A-C838-0B19-9A59-8F1649497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58" y="430801"/>
            <a:ext cx="8538883" cy="427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2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8803-48EB-FBC1-4190-C3D9B3DC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2FFF44-1E10-F703-07FD-97CAB128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68F3-87E9-FE4E-AA08-C0B7AD6BA136}" type="datetime3">
              <a:rPr lang="de-DE" smtClean="0"/>
              <a:t>17/11/25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70044-14E3-B2EE-A67A-4057A4076B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de-DE" smtClean="0"/>
              <a:t>9</a:t>
            </a:fld>
            <a:endParaRPr lang="de-DE"/>
          </a:p>
        </p:txBody>
      </p:sp>
      <p:pic>
        <p:nvPicPr>
          <p:cNvPr id="5" name="Grafik 4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EC35E036-F9CB-9841-6076-E882F60A0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29" y="385798"/>
            <a:ext cx="8727142" cy="43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8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6B2794-E2F4-AD4B-E4E0-517DB895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Timeline – Project Roadmap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2DCA9B-17FA-762D-04AB-43C8A43B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EBB6-1B2E-7F45-943A-8EFB32E2790A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8B6134-15C4-A601-FC36-ABC9E2646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10</a:t>
            </a:fld>
            <a:endParaRPr lang="en-US" noProof="0"/>
          </a:p>
        </p:txBody>
      </p:sp>
      <p:sp>
        <p:nvSpPr>
          <p:cNvPr id="101" name="TextBox 48">
            <a:extLst>
              <a:ext uri="{FF2B5EF4-FFF2-40B4-BE49-F238E27FC236}">
                <a16:creationId xmlns:a16="http://schemas.microsoft.com/office/drawing/2014/main" id="{7DD4186C-B7EA-681E-4DBB-970CF843352A}"/>
              </a:ext>
            </a:extLst>
          </p:cNvPr>
          <p:cNvSpPr txBox="1"/>
          <p:nvPr/>
        </p:nvSpPr>
        <p:spPr>
          <a:xfrm>
            <a:off x="90312" y="3570303"/>
            <a:ext cx="1904984" cy="1003801"/>
          </a:xfrm>
          <a:prstGeom prst="rect">
            <a:avLst/>
          </a:prstGeom>
          <a:noFill/>
        </p:spPr>
        <p:txBody>
          <a:bodyPr wrap="square" lIns="91440" tIns="0" rIns="9144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noProof="0">
                <a:solidFill>
                  <a:srgbClr val="F3ADAF"/>
                </a:solidFill>
                <a:latin typeface="Arial" panose="020B0604020202020204" pitchFamily="34" charset="0"/>
              </a:rPr>
              <a:t>Data Understanding, Cleaning &amp; Enrichment</a:t>
            </a:r>
          </a:p>
          <a:p>
            <a:pPr algn="r">
              <a:lnSpc>
                <a:spcPct val="150000"/>
              </a:lnSpc>
            </a:pPr>
            <a:r>
              <a:rPr lang="en-US" sz="900" noProof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</a:rPr>
              <a:t>Clarify open questions, handle missing data correctly and enrich  the data for later analysis</a:t>
            </a:r>
          </a:p>
        </p:txBody>
      </p:sp>
      <p:cxnSp>
        <p:nvCxnSpPr>
          <p:cNvPr id="102" name="Straight Connector 322">
            <a:extLst>
              <a:ext uri="{FF2B5EF4-FFF2-40B4-BE49-F238E27FC236}">
                <a16:creationId xmlns:a16="http://schemas.microsoft.com/office/drawing/2014/main" id="{43B5C81B-71C8-1380-950F-AD01011B84F5}"/>
              </a:ext>
            </a:extLst>
          </p:cNvPr>
          <p:cNvCxnSpPr/>
          <p:nvPr/>
        </p:nvCxnSpPr>
        <p:spPr>
          <a:xfrm>
            <a:off x="4108654" y="3403571"/>
            <a:ext cx="873919" cy="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40000"/>
                <a:lumOff val="60000"/>
              </a:scheme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103" name="Straight Connector 324">
            <a:extLst>
              <a:ext uri="{FF2B5EF4-FFF2-40B4-BE49-F238E27FC236}">
                <a16:creationId xmlns:a16="http://schemas.microsoft.com/office/drawing/2014/main" id="{9665CF0D-7381-6DC4-5472-1356616AD33C}"/>
              </a:ext>
            </a:extLst>
          </p:cNvPr>
          <p:cNvCxnSpPr/>
          <p:nvPr/>
        </p:nvCxnSpPr>
        <p:spPr>
          <a:xfrm>
            <a:off x="6180341" y="2303433"/>
            <a:ext cx="873919" cy="0"/>
          </a:xfrm>
          <a:prstGeom prst="line">
            <a:avLst/>
          </a:prstGeom>
          <a:noFill/>
          <a:ln w="19050" cap="flat" cmpd="sng" algn="ctr">
            <a:solidFill>
              <a:schemeClr val="bg2"/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104" name="Straight Connector 291">
            <a:extLst>
              <a:ext uri="{FF2B5EF4-FFF2-40B4-BE49-F238E27FC236}">
                <a16:creationId xmlns:a16="http://schemas.microsoft.com/office/drawing/2014/main" id="{E3728E86-78E8-13F9-AF8D-BE2F67EFED46}"/>
              </a:ext>
            </a:extLst>
          </p:cNvPr>
          <p:cNvCxnSpPr/>
          <p:nvPr/>
        </p:nvCxnSpPr>
        <p:spPr>
          <a:xfrm>
            <a:off x="2083996" y="4015552"/>
            <a:ext cx="873323" cy="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20000"/>
                <a:lumOff val="80000"/>
              </a:scheme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105" name="Straight Connector 323">
            <a:extLst>
              <a:ext uri="{FF2B5EF4-FFF2-40B4-BE49-F238E27FC236}">
                <a16:creationId xmlns:a16="http://schemas.microsoft.com/office/drawing/2014/main" id="{3018DDD7-EDB7-E142-5466-B4246349C4D4}"/>
              </a:ext>
            </a:extLst>
          </p:cNvPr>
          <p:cNvCxnSpPr/>
          <p:nvPr/>
        </p:nvCxnSpPr>
        <p:spPr>
          <a:xfrm>
            <a:off x="4168185" y="2851716"/>
            <a:ext cx="873324" cy="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106" name="Straight Connector 325">
            <a:extLst>
              <a:ext uri="{FF2B5EF4-FFF2-40B4-BE49-F238E27FC236}">
                <a16:creationId xmlns:a16="http://schemas.microsoft.com/office/drawing/2014/main" id="{B5210477-E224-2138-602F-87687ECCE82F}"/>
              </a:ext>
            </a:extLst>
          </p:cNvPr>
          <p:cNvCxnSpPr/>
          <p:nvPr/>
        </p:nvCxnSpPr>
        <p:spPr>
          <a:xfrm>
            <a:off x="6328574" y="1693833"/>
            <a:ext cx="873919" cy="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ysDash"/>
            <a:headEnd type="oval" w="med" len="med"/>
            <a:tailEnd type="oval" w="med" len="med"/>
          </a:ln>
          <a:effectLst/>
        </p:spPr>
      </p:cxnSp>
      <p:sp>
        <p:nvSpPr>
          <p:cNvPr id="107" name="Freeform 14">
            <a:extLst>
              <a:ext uri="{FF2B5EF4-FFF2-40B4-BE49-F238E27FC236}">
                <a16:creationId xmlns:a16="http://schemas.microsoft.com/office/drawing/2014/main" id="{29D81543-9316-ACC4-3408-DDB6375C4EB1}"/>
              </a:ext>
            </a:extLst>
          </p:cNvPr>
          <p:cNvSpPr>
            <a:spLocks/>
          </p:cNvSpPr>
          <p:nvPr/>
        </p:nvSpPr>
        <p:spPr bwMode="auto">
          <a:xfrm>
            <a:off x="2444756" y="3813145"/>
            <a:ext cx="1095970" cy="86321"/>
          </a:xfrm>
          <a:custGeom>
            <a:avLst/>
            <a:gdLst>
              <a:gd name="T0" fmla="*/ 0 w 1056"/>
              <a:gd name="T1" fmla="*/ 74 h 74"/>
              <a:gd name="T2" fmla="*/ 136 w 1056"/>
              <a:gd name="T3" fmla="*/ 0 h 74"/>
              <a:gd name="T4" fmla="*/ 1056 w 1056"/>
              <a:gd name="T5" fmla="*/ 0 h 74"/>
              <a:gd name="T6" fmla="*/ 968 w 1056"/>
              <a:gd name="T7" fmla="*/ 74 h 74"/>
              <a:gd name="T8" fmla="*/ 0 w 1056"/>
              <a:gd name="T9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56" h="74">
                <a:moveTo>
                  <a:pt x="0" y="74"/>
                </a:moveTo>
                <a:lnTo>
                  <a:pt x="136" y="0"/>
                </a:lnTo>
                <a:lnTo>
                  <a:pt x="1056" y="0"/>
                </a:lnTo>
                <a:lnTo>
                  <a:pt x="968" y="74"/>
                </a:lnTo>
                <a:lnTo>
                  <a:pt x="0" y="74"/>
                </a:lnTo>
                <a:close/>
              </a:path>
            </a:pathLst>
          </a:custGeom>
          <a:solidFill>
            <a:srgbClr val="B98685"/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08" name="Freeform 15">
            <a:extLst>
              <a:ext uri="{FF2B5EF4-FFF2-40B4-BE49-F238E27FC236}">
                <a16:creationId xmlns:a16="http://schemas.microsoft.com/office/drawing/2014/main" id="{B77077F2-4172-01A0-2DF4-FD0FEDFC0742}"/>
              </a:ext>
            </a:extLst>
          </p:cNvPr>
          <p:cNvSpPr>
            <a:spLocks/>
          </p:cNvSpPr>
          <p:nvPr/>
        </p:nvSpPr>
        <p:spPr bwMode="auto">
          <a:xfrm>
            <a:off x="3447262" y="3813145"/>
            <a:ext cx="93464" cy="404813"/>
          </a:xfrm>
          <a:custGeom>
            <a:avLst/>
            <a:gdLst>
              <a:gd name="T0" fmla="*/ 2 w 90"/>
              <a:gd name="T1" fmla="*/ 346 h 346"/>
              <a:gd name="T2" fmla="*/ 0 w 90"/>
              <a:gd name="T3" fmla="*/ 74 h 346"/>
              <a:gd name="T4" fmla="*/ 90 w 90"/>
              <a:gd name="T5" fmla="*/ 0 h 346"/>
              <a:gd name="T6" fmla="*/ 90 w 90"/>
              <a:gd name="T7" fmla="*/ 262 h 346"/>
              <a:gd name="T8" fmla="*/ 2 w 90"/>
              <a:gd name="T9" fmla="*/ 34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346">
                <a:moveTo>
                  <a:pt x="2" y="346"/>
                </a:moveTo>
                <a:lnTo>
                  <a:pt x="0" y="74"/>
                </a:lnTo>
                <a:lnTo>
                  <a:pt x="90" y="0"/>
                </a:lnTo>
                <a:lnTo>
                  <a:pt x="90" y="262"/>
                </a:lnTo>
                <a:lnTo>
                  <a:pt x="2" y="346"/>
                </a:lnTo>
                <a:close/>
              </a:path>
            </a:pathLst>
          </a:custGeom>
          <a:solidFill>
            <a:srgbClr val="A87A79"/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09" name="Freeform 18">
            <a:extLst>
              <a:ext uri="{FF2B5EF4-FFF2-40B4-BE49-F238E27FC236}">
                <a16:creationId xmlns:a16="http://schemas.microsoft.com/office/drawing/2014/main" id="{F033A659-0127-A4EC-B7A7-9532B5D55E59}"/>
              </a:ext>
            </a:extLst>
          </p:cNvPr>
          <p:cNvSpPr>
            <a:spLocks/>
          </p:cNvSpPr>
          <p:nvPr/>
        </p:nvSpPr>
        <p:spPr bwMode="auto">
          <a:xfrm>
            <a:off x="5598721" y="2430830"/>
            <a:ext cx="1062633" cy="53578"/>
          </a:xfrm>
          <a:custGeom>
            <a:avLst/>
            <a:gdLst>
              <a:gd name="T0" fmla="*/ 1024 w 1024"/>
              <a:gd name="T1" fmla="*/ 0 h 46"/>
              <a:gd name="T2" fmla="*/ 952 w 1024"/>
              <a:gd name="T3" fmla="*/ 46 h 46"/>
              <a:gd name="T4" fmla="*/ 0 w 1024"/>
              <a:gd name="T5" fmla="*/ 44 h 46"/>
              <a:gd name="T6" fmla="*/ 48 w 1024"/>
              <a:gd name="T7" fmla="*/ 0 h 46"/>
              <a:gd name="T8" fmla="*/ 1024 w 1024"/>
              <a:gd name="T9" fmla="*/ 0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24" h="46">
                <a:moveTo>
                  <a:pt x="1024" y="0"/>
                </a:moveTo>
                <a:lnTo>
                  <a:pt x="952" y="46"/>
                </a:lnTo>
                <a:lnTo>
                  <a:pt x="0" y="44"/>
                </a:lnTo>
                <a:lnTo>
                  <a:pt x="48" y="0"/>
                </a:lnTo>
                <a:lnTo>
                  <a:pt x="1024" y="0"/>
                </a:lnTo>
                <a:close/>
              </a:path>
            </a:pathLst>
          </a:custGeom>
          <a:solidFill>
            <a:srgbClr val="7C0100"/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10" name="Freeform 19">
            <a:extLst>
              <a:ext uri="{FF2B5EF4-FFF2-40B4-BE49-F238E27FC236}">
                <a16:creationId xmlns:a16="http://schemas.microsoft.com/office/drawing/2014/main" id="{A7F5D90C-9B42-BA8B-401D-3412408D4469}"/>
              </a:ext>
            </a:extLst>
          </p:cNvPr>
          <p:cNvSpPr>
            <a:spLocks/>
          </p:cNvSpPr>
          <p:nvPr/>
        </p:nvSpPr>
        <p:spPr bwMode="auto">
          <a:xfrm>
            <a:off x="5598721" y="2121863"/>
            <a:ext cx="50006" cy="360164"/>
          </a:xfrm>
          <a:custGeom>
            <a:avLst/>
            <a:gdLst>
              <a:gd name="T0" fmla="*/ 48 w 48"/>
              <a:gd name="T1" fmla="*/ 0 h 308"/>
              <a:gd name="T2" fmla="*/ 48 w 48"/>
              <a:gd name="T3" fmla="*/ 264 h 308"/>
              <a:gd name="T4" fmla="*/ 0 w 48"/>
              <a:gd name="T5" fmla="*/ 308 h 308"/>
              <a:gd name="T6" fmla="*/ 2 w 48"/>
              <a:gd name="T7" fmla="*/ 46 h 308"/>
              <a:gd name="T8" fmla="*/ 48 w 48"/>
              <a:gd name="T9" fmla="*/ 0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308">
                <a:moveTo>
                  <a:pt x="48" y="0"/>
                </a:moveTo>
                <a:lnTo>
                  <a:pt x="48" y="264"/>
                </a:lnTo>
                <a:lnTo>
                  <a:pt x="0" y="308"/>
                </a:lnTo>
                <a:lnTo>
                  <a:pt x="2" y="46"/>
                </a:lnTo>
                <a:lnTo>
                  <a:pt x="48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11" name="Freeform 20">
            <a:extLst>
              <a:ext uri="{FF2B5EF4-FFF2-40B4-BE49-F238E27FC236}">
                <a16:creationId xmlns:a16="http://schemas.microsoft.com/office/drawing/2014/main" id="{DE7188C6-C968-8507-387B-10F4E7DB7AB3}"/>
              </a:ext>
            </a:extLst>
          </p:cNvPr>
          <p:cNvSpPr>
            <a:spLocks/>
          </p:cNvSpPr>
          <p:nvPr/>
        </p:nvSpPr>
        <p:spPr bwMode="auto">
          <a:xfrm>
            <a:off x="6661354" y="1811110"/>
            <a:ext cx="1087041" cy="81558"/>
          </a:xfrm>
          <a:custGeom>
            <a:avLst/>
            <a:gdLst>
              <a:gd name="T0" fmla="*/ 1048 w 1048"/>
              <a:gd name="T1" fmla="*/ 2 h 70"/>
              <a:gd name="T2" fmla="*/ 946 w 1048"/>
              <a:gd name="T3" fmla="*/ 70 h 70"/>
              <a:gd name="T4" fmla="*/ 0 w 1048"/>
              <a:gd name="T5" fmla="*/ 70 h 70"/>
              <a:gd name="T6" fmla="*/ 88 w 1048"/>
              <a:gd name="T7" fmla="*/ 0 h 70"/>
              <a:gd name="T8" fmla="*/ 1048 w 1048"/>
              <a:gd name="T9" fmla="*/ 2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70">
                <a:moveTo>
                  <a:pt x="1048" y="2"/>
                </a:moveTo>
                <a:lnTo>
                  <a:pt x="946" y="70"/>
                </a:lnTo>
                <a:lnTo>
                  <a:pt x="0" y="70"/>
                </a:lnTo>
                <a:lnTo>
                  <a:pt x="88" y="0"/>
                </a:lnTo>
                <a:lnTo>
                  <a:pt x="1048" y="2"/>
                </a:lnTo>
                <a:close/>
              </a:path>
            </a:pathLst>
          </a:custGeom>
          <a:solidFill>
            <a:srgbClr val="610000"/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12" name="Freeform 21">
            <a:extLst>
              <a:ext uri="{FF2B5EF4-FFF2-40B4-BE49-F238E27FC236}">
                <a16:creationId xmlns:a16="http://schemas.microsoft.com/office/drawing/2014/main" id="{2FDF3E02-BA0C-BA25-D2D8-8DED41A73953}"/>
              </a:ext>
            </a:extLst>
          </p:cNvPr>
          <p:cNvSpPr>
            <a:spLocks/>
          </p:cNvSpPr>
          <p:nvPr/>
        </p:nvSpPr>
        <p:spPr bwMode="auto">
          <a:xfrm>
            <a:off x="6661354" y="1494999"/>
            <a:ext cx="91083" cy="397669"/>
          </a:xfrm>
          <a:custGeom>
            <a:avLst/>
            <a:gdLst>
              <a:gd name="T0" fmla="*/ 88 w 88"/>
              <a:gd name="T1" fmla="*/ 0 h 340"/>
              <a:gd name="T2" fmla="*/ 88 w 88"/>
              <a:gd name="T3" fmla="*/ 268 h 340"/>
              <a:gd name="T4" fmla="*/ 0 w 88"/>
              <a:gd name="T5" fmla="*/ 340 h 340"/>
              <a:gd name="T6" fmla="*/ 0 w 88"/>
              <a:gd name="T7" fmla="*/ 80 h 340"/>
              <a:gd name="T8" fmla="*/ 88 w 88"/>
              <a:gd name="T9" fmla="*/ 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340">
                <a:moveTo>
                  <a:pt x="88" y="0"/>
                </a:moveTo>
                <a:lnTo>
                  <a:pt x="88" y="268"/>
                </a:lnTo>
                <a:lnTo>
                  <a:pt x="0" y="340"/>
                </a:lnTo>
                <a:lnTo>
                  <a:pt x="0" y="80"/>
                </a:lnTo>
                <a:lnTo>
                  <a:pt x="88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13" name="Freeform 16">
            <a:extLst>
              <a:ext uri="{FF2B5EF4-FFF2-40B4-BE49-F238E27FC236}">
                <a16:creationId xmlns:a16="http://schemas.microsoft.com/office/drawing/2014/main" id="{51D82301-99CA-96B0-C97D-DE355E4BB04B}"/>
              </a:ext>
            </a:extLst>
          </p:cNvPr>
          <p:cNvSpPr>
            <a:spLocks/>
          </p:cNvSpPr>
          <p:nvPr/>
        </p:nvSpPr>
        <p:spPr bwMode="auto">
          <a:xfrm>
            <a:off x="3565729" y="3216643"/>
            <a:ext cx="1045369" cy="55959"/>
          </a:xfrm>
          <a:custGeom>
            <a:avLst/>
            <a:gdLst>
              <a:gd name="T0" fmla="*/ 0 w 1008"/>
              <a:gd name="T1" fmla="*/ 48 h 48"/>
              <a:gd name="T2" fmla="*/ 84 w 1008"/>
              <a:gd name="T3" fmla="*/ 0 h 48"/>
              <a:gd name="T4" fmla="*/ 1008 w 1008"/>
              <a:gd name="T5" fmla="*/ 0 h 48"/>
              <a:gd name="T6" fmla="*/ 960 w 1008"/>
              <a:gd name="T7" fmla="*/ 48 h 48"/>
              <a:gd name="T8" fmla="*/ 0 w 1008"/>
              <a:gd name="T9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48">
                <a:moveTo>
                  <a:pt x="0" y="48"/>
                </a:moveTo>
                <a:lnTo>
                  <a:pt x="84" y="0"/>
                </a:lnTo>
                <a:lnTo>
                  <a:pt x="1008" y="0"/>
                </a:lnTo>
                <a:lnTo>
                  <a:pt x="9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D35A5C"/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14" name="Freeform 17">
            <a:extLst>
              <a:ext uri="{FF2B5EF4-FFF2-40B4-BE49-F238E27FC236}">
                <a16:creationId xmlns:a16="http://schemas.microsoft.com/office/drawing/2014/main" id="{BE22062C-F74B-9151-BB5A-2D0A2FE9DC60}"/>
              </a:ext>
            </a:extLst>
          </p:cNvPr>
          <p:cNvSpPr>
            <a:spLocks/>
          </p:cNvSpPr>
          <p:nvPr/>
        </p:nvSpPr>
        <p:spPr bwMode="auto">
          <a:xfrm>
            <a:off x="4561091" y="3216642"/>
            <a:ext cx="50006" cy="374452"/>
          </a:xfrm>
          <a:custGeom>
            <a:avLst/>
            <a:gdLst>
              <a:gd name="T0" fmla="*/ 0 w 48"/>
              <a:gd name="T1" fmla="*/ 320 h 320"/>
              <a:gd name="T2" fmla="*/ 0 w 48"/>
              <a:gd name="T3" fmla="*/ 48 h 320"/>
              <a:gd name="T4" fmla="*/ 48 w 48"/>
              <a:gd name="T5" fmla="*/ 0 h 320"/>
              <a:gd name="T6" fmla="*/ 48 w 48"/>
              <a:gd name="T7" fmla="*/ 272 h 320"/>
              <a:gd name="T8" fmla="*/ 0 w 48"/>
              <a:gd name="T9" fmla="*/ 320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320">
                <a:moveTo>
                  <a:pt x="0" y="320"/>
                </a:moveTo>
                <a:lnTo>
                  <a:pt x="0" y="48"/>
                </a:lnTo>
                <a:lnTo>
                  <a:pt x="48" y="0"/>
                </a:lnTo>
                <a:lnTo>
                  <a:pt x="48" y="272"/>
                </a:lnTo>
                <a:lnTo>
                  <a:pt x="0" y="320"/>
                </a:lnTo>
                <a:close/>
              </a:path>
            </a:pathLst>
          </a:custGeom>
          <a:solidFill>
            <a:srgbClr val="AE4B4C"/>
          </a:solidFill>
          <a:ln>
            <a:noFill/>
          </a:ln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Calibri" pitchFamily="34" charset="0"/>
            </a:endParaRPr>
          </a:p>
        </p:txBody>
      </p:sp>
      <p:sp>
        <p:nvSpPr>
          <p:cNvPr id="115" name="Freeform 30">
            <a:extLst>
              <a:ext uri="{FF2B5EF4-FFF2-40B4-BE49-F238E27FC236}">
                <a16:creationId xmlns:a16="http://schemas.microsoft.com/office/drawing/2014/main" id="{5105F296-8FE4-4893-8607-5CC245071F38}"/>
              </a:ext>
            </a:extLst>
          </p:cNvPr>
          <p:cNvSpPr>
            <a:spLocks/>
          </p:cNvSpPr>
          <p:nvPr/>
        </p:nvSpPr>
        <p:spPr bwMode="auto">
          <a:xfrm>
            <a:off x="3644310" y="3450600"/>
            <a:ext cx="54174" cy="91083"/>
          </a:xfrm>
          <a:custGeom>
            <a:avLst/>
            <a:gdLst>
              <a:gd name="T0" fmla="*/ 132790 w 52"/>
              <a:gd name="T1" fmla="*/ 224527 h 78"/>
              <a:gd name="T2" fmla="*/ 132790 w 52"/>
              <a:gd name="T3" fmla="*/ 224527 h 78"/>
              <a:gd name="T4" fmla="*/ 143856 w 52"/>
              <a:gd name="T5" fmla="*/ 212054 h 78"/>
              <a:gd name="T6" fmla="*/ 143856 w 52"/>
              <a:gd name="T7" fmla="*/ 187106 h 78"/>
              <a:gd name="T8" fmla="*/ 143856 w 52"/>
              <a:gd name="T9" fmla="*/ 68606 h 78"/>
              <a:gd name="T10" fmla="*/ 143856 w 52"/>
              <a:gd name="T11" fmla="*/ 62369 h 78"/>
              <a:gd name="T12" fmla="*/ 143856 w 52"/>
              <a:gd name="T13" fmla="*/ 62369 h 78"/>
              <a:gd name="T14" fmla="*/ 143856 w 52"/>
              <a:gd name="T15" fmla="*/ 43658 h 78"/>
              <a:gd name="T16" fmla="*/ 143856 w 52"/>
              <a:gd name="T17" fmla="*/ 43658 h 78"/>
              <a:gd name="T18" fmla="*/ 132790 w 52"/>
              <a:gd name="T19" fmla="*/ 24947 h 78"/>
              <a:gd name="T20" fmla="*/ 132790 w 52"/>
              <a:gd name="T21" fmla="*/ 24947 h 78"/>
              <a:gd name="T22" fmla="*/ 110658 w 52"/>
              <a:gd name="T23" fmla="*/ 6237 h 78"/>
              <a:gd name="T24" fmla="*/ 110658 w 52"/>
              <a:gd name="T25" fmla="*/ 6237 h 78"/>
              <a:gd name="T26" fmla="*/ 71928 w 52"/>
              <a:gd name="T27" fmla="*/ 0 h 78"/>
              <a:gd name="T28" fmla="*/ 0 w 52"/>
              <a:gd name="T29" fmla="*/ 0 h 78"/>
              <a:gd name="T30" fmla="*/ 0 w 52"/>
              <a:gd name="T31" fmla="*/ 243238 h 78"/>
              <a:gd name="T32" fmla="*/ 49796 w 52"/>
              <a:gd name="T33" fmla="*/ 243238 h 78"/>
              <a:gd name="T34" fmla="*/ 99593 w 52"/>
              <a:gd name="T35" fmla="*/ 243238 h 78"/>
              <a:gd name="T36" fmla="*/ 99593 w 52"/>
              <a:gd name="T37" fmla="*/ 243238 h 78"/>
              <a:gd name="T38" fmla="*/ 116191 w 52"/>
              <a:gd name="T39" fmla="*/ 237001 h 78"/>
              <a:gd name="T40" fmla="*/ 132790 w 52"/>
              <a:gd name="T41" fmla="*/ 224527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52" h="78">
                <a:moveTo>
                  <a:pt x="48" y="72"/>
                </a:moveTo>
                <a:lnTo>
                  <a:pt x="48" y="72"/>
                </a:lnTo>
                <a:lnTo>
                  <a:pt x="52" y="68"/>
                </a:lnTo>
                <a:lnTo>
                  <a:pt x="52" y="60"/>
                </a:lnTo>
                <a:lnTo>
                  <a:pt x="52" y="22"/>
                </a:lnTo>
                <a:lnTo>
                  <a:pt x="52" y="20"/>
                </a:lnTo>
                <a:lnTo>
                  <a:pt x="52" y="14"/>
                </a:lnTo>
                <a:lnTo>
                  <a:pt x="48" y="8"/>
                </a:lnTo>
                <a:lnTo>
                  <a:pt x="40" y="2"/>
                </a:lnTo>
                <a:lnTo>
                  <a:pt x="26" y="0"/>
                </a:lnTo>
                <a:lnTo>
                  <a:pt x="0" y="0"/>
                </a:lnTo>
                <a:lnTo>
                  <a:pt x="0" y="78"/>
                </a:lnTo>
                <a:lnTo>
                  <a:pt x="18" y="78"/>
                </a:lnTo>
                <a:lnTo>
                  <a:pt x="36" y="78"/>
                </a:lnTo>
                <a:lnTo>
                  <a:pt x="42" y="76"/>
                </a:lnTo>
                <a:lnTo>
                  <a:pt x="48" y="7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/>
          <a:lstStyle/>
          <a:p>
            <a:endParaRPr lang="en-US" sz="675" noProof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16" name="TextBox 44">
            <a:extLst>
              <a:ext uri="{FF2B5EF4-FFF2-40B4-BE49-F238E27FC236}">
                <a16:creationId xmlns:a16="http://schemas.microsoft.com/office/drawing/2014/main" id="{4F28AD33-5F95-1F06-15ED-BBE0D99AE29E}"/>
              </a:ext>
            </a:extLst>
          </p:cNvPr>
          <p:cNvSpPr txBox="1"/>
          <p:nvPr/>
        </p:nvSpPr>
        <p:spPr>
          <a:xfrm>
            <a:off x="5061829" y="3196402"/>
            <a:ext cx="1735391" cy="889539"/>
          </a:xfrm>
          <a:prstGeom prst="rect">
            <a:avLst/>
          </a:prstGeom>
          <a:noFill/>
        </p:spPr>
        <p:txBody>
          <a:bodyPr wrap="square" lIns="91440" tIns="0" rIns="9144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b="1" noProof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Exploratory Data Analysis</a:t>
            </a:r>
          </a:p>
          <a:p>
            <a:pPr>
              <a:lnSpc>
                <a:spcPct val="120000"/>
              </a:lnSpc>
            </a:pPr>
            <a:r>
              <a:rPr lang="en-US" sz="900" noProof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</a:rPr>
              <a:t>Explore Distributions, trends, correlations</a:t>
            </a:r>
          </a:p>
          <a:p>
            <a:pPr>
              <a:lnSpc>
                <a:spcPct val="120000"/>
              </a:lnSpc>
            </a:pPr>
            <a:endParaRPr lang="en-US" sz="900" noProof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17" name="TextBox 46">
            <a:extLst>
              <a:ext uri="{FF2B5EF4-FFF2-40B4-BE49-F238E27FC236}">
                <a16:creationId xmlns:a16="http://schemas.microsoft.com/office/drawing/2014/main" id="{709BF9D5-9077-AB1C-DBAD-05E13EFCE04C}"/>
              </a:ext>
            </a:extLst>
          </p:cNvPr>
          <p:cNvSpPr txBox="1"/>
          <p:nvPr/>
        </p:nvSpPr>
        <p:spPr>
          <a:xfrm>
            <a:off x="7148705" y="2105789"/>
            <a:ext cx="1735391" cy="520207"/>
          </a:xfrm>
          <a:prstGeom prst="rect">
            <a:avLst/>
          </a:prstGeom>
          <a:noFill/>
        </p:spPr>
        <p:txBody>
          <a:bodyPr wrap="square" lIns="91440" tIns="0" rIns="9144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b="1" noProof="0">
                <a:solidFill>
                  <a:schemeClr val="bg2"/>
                </a:solidFill>
                <a:latin typeface="Arial" panose="020B0604020202020204" pitchFamily="34" charset="0"/>
              </a:rPr>
              <a:t>Start Report</a:t>
            </a:r>
          </a:p>
          <a:p>
            <a:pPr>
              <a:lnSpc>
                <a:spcPct val="120000"/>
              </a:lnSpc>
            </a:pPr>
            <a:r>
              <a:rPr lang="en-US" sz="900" noProof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</a:rPr>
              <a:t>Structure the results and write the report</a:t>
            </a:r>
          </a:p>
        </p:txBody>
      </p:sp>
      <p:sp>
        <p:nvSpPr>
          <p:cNvPr id="118" name="TextBox 49">
            <a:extLst>
              <a:ext uri="{FF2B5EF4-FFF2-40B4-BE49-F238E27FC236}">
                <a16:creationId xmlns:a16="http://schemas.microsoft.com/office/drawing/2014/main" id="{BB4942B3-8655-17AC-7616-62BA932D90B2}"/>
              </a:ext>
            </a:extLst>
          </p:cNvPr>
          <p:cNvSpPr txBox="1"/>
          <p:nvPr/>
        </p:nvSpPr>
        <p:spPr>
          <a:xfrm>
            <a:off x="2350641" y="2320147"/>
            <a:ext cx="1735391" cy="686406"/>
          </a:xfrm>
          <a:prstGeom prst="rect">
            <a:avLst/>
          </a:prstGeom>
          <a:noFill/>
        </p:spPr>
        <p:txBody>
          <a:bodyPr wrap="square" lIns="91440" tIns="0" rIns="9144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noProof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Hypothesis Testing</a:t>
            </a:r>
          </a:p>
          <a:p>
            <a:pPr algn="r">
              <a:lnSpc>
                <a:spcPct val="120000"/>
              </a:lnSpc>
            </a:pPr>
            <a:r>
              <a:rPr lang="en-US" sz="900" noProof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</a:rPr>
              <a:t>Analysis of the relationship between book size and borrowing behavior</a:t>
            </a:r>
          </a:p>
        </p:txBody>
      </p:sp>
      <p:sp>
        <p:nvSpPr>
          <p:cNvPr id="119" name="Freeform 52">
            <a:extLst>
              <a:ext uri="{FF2B5EF4-FFF2-40B4-BE49-F238E27FC236}">
                <a16:creationId xmlns:a16="http://schemas.microsoft.com/office/drawing/2014/main" id="{93E44F56-3D10-5F1D-1B98-573337FA5C3B}"/>
              </a:ext>
            </a:extLst>
          </p:cNvPr>
          <p:cNvSpPr/>
          <p:nvPr/>
        </p:nvSpPr>
        <p:spPr bwMode="auto">
          <a:xfrm>
            <a:off x="6752437" y="1494999"/>
            <a:ext cx="995958" cy="318492"/>
          </a:xfrm>
          <a:custGeom>
            <a:avLst/>
            <a:gdLst>
              <a:gd name="connsiteX0" fmla="*/ 0 w 995958"/>
              <a:gd name="connsiteY0" fmla="*/ 0 h 318492"/>
              <a:gd name="connsiteX1" fmla="*/ 995958 w 995958"/>
              <a:gd name="connsiteY1" fmla="*/ 0 h 318492"/>
              <a:gd name="connsiteX2" fmla="*/ 995958 w 995958"/>
              <a:gd name="connsiteY2" fmla="*/ 318492 h 318492"/>
              <a:gd name="connsiteX3" fmla="*/ 0 w 995958"/>
              <a:gd name="connsiteY3" fmla="*/ 318492 h 31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958" h="318492">
                <a:moveTo>
                  <a:pt x="0" y="0"/>
                </a:moveTo>
                <a:lnTo>
                  <a:pt x="995958" y="0"/>
                </a:lnTo>
                <a:lnTo>
                  <a:pt x="995958" y="318492"/>
                </a:lnTo>
                <a:lnTo>
                  <a:pt x="0" y="31849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30.01</a:t>
            </a:r>
          </a:p>
        </p:txBody>
      </p:sp>
      <p:sp>
        <p:nvSpPr>
          <p:cNvPr id="120" name="Freeform 54">
            <a:extLst>
              <a:ext uri="{FF2B5EF4-FFF2-40B4-BE49-F238E27FC236}">
                <a16:creationId xmlns:a16="http://schemas.microsoft.com/office/drawing/2014/main" id="{ABCE50CF-7309-7470-B166-177269E0CE12}"/>
              </a:ext>
            </a:extLst>
          </p:cNvPr>
          <p:cNvSpPr/>
          <p:nvPr/>
        </p:nvSpPr>
        <p:spPr bwMode="auto">
          <a:xfrm>
            <a:off x="5648728" y="2121863"/>
            <a:ext cx="1012626" cy="308967"/>
          </a:xfrm>
          <a:custGeom>
            <a:avLst/>
            <a:gdLst>
              <a:gd name="connsiteX0" fmla="*/ 0 w 1012626"/>
              <a:gd name="connsiteY0" fmla="*/ 0 h 308967"/>
              <a:gd name="connsiteX1" fmla="*/ 1012626 w 1012626"/>
              <a:gd name="connsiteY1" fmla="*/ 0 h 308967"/>
              <a:gd name="connsiteX2" fmla="*/ 1012626 w 1012626"/>
              <a:gd name="connsiteY2" fmla="*/ 308967 h 308967"/>
              <a:gd name="connsiteX3" fmla="*/ 0 w 1012626"/>
              <a:gd name="connsiteY3" fmla="*/ 308967 h 308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2626" h="308967">
                <a:moveTo>
                  <a:pt x="0" y="0"/>
                </a:moveTo>
                <a:lnTo>
                  <a:pt x="1012626" y="0"/>
                </a:lnTo>
                <a:lnTo>
                  <a:pt x="1012626" y="308967"/>
                </a:lnTo>
                <a:lnTo>
                  <a:pt x="0" y="308967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08.01</a:t>
            </a:r>
          </a:p>
        </p:txBody>
      </p:sp>
      <p:sp>
        <p:nvSpPr>
          <p:cNvPr id="121" name="Freeform 56">
            <a:extLst>
              <a:ext uri="{FF2B5EF4-FFF2-40B4-BE49-F238E27FC236}">
                <a16:creationId xmlns:a16="http://schemas.microsoft.com/office/drawing/2014/main" id="{91DAB2EA-D049-FE21-6386-2FC035EF95AE}"/>
              </a:ext>
            </a:extLst>
          </p:cNvPr>
          <p:cNvSpPr/>
          <p:nvPr/>
        </p:nvSpPr>
        <p:spPr bwMode="auto">
          <a:xfrm>
            <a:off x="4619431" y="2692768"/>
            <a:ext cx="995958" cy="317897"/>
          </a:xfrm>
          <a:custGeom>
            <a:avLst/>
            <a:gdLst>
              <a:gd name="connsiteX0" fmla="*/ 0 w 995958"/>
              <a:gd name="connsiteY0" fmla="*/ 0 h 317897"/>
              <a:gd name="connsiteX1" fmla="*/ 995958 w 995958"/>
              <a:gd name="connsiteY1" fmla="*/ 0 h 317897"/>
              <a:gd name="connsiteX2" fmla="*/ 995958 w 995958"/>
              <a:gd name="connsiteY2" fmla="*/ 317897 h 317897"/>
              <a:gd name="connsiteX3" fmla="*/ 0 w 995958"/>
              <a:gd name="connsiteY3" fmla="*/ 317897 h 317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958" h="317897">
                <a:moveTo>
                  <a:pt x="0" y="0"/>
                </a:moveTo>
                <a:lnTo>
                  <a:pt x="995958" y="0"/>
                </a:lnTo>
                <a:lnTo>
                  <a:pt x="995958" y="317897"/>
                </a:lnTo>
                <a:lnTo>
                  <a:pt x="0" y="317897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rgbClr val="FFFFFF"/>
                </a:solidFill>
                <a:latin typeface="Arial" panose="020B0604020202020204" pitchFamily="34" charset="0"/>
              </a:rPr>
              <a:t>0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8.12</a:t>
            </a:r>
          </a:p>
        </p:txBody>
      </p:sp>
      <p:sp>
        <p:nvSpPr>
          <p:cNvPr id="122" name="Freeform 60">
            <a:extLst>
              <a:ext uri="{FF2B5EF4-FFF2-40B4-BE49-F238E27FC236}">
                <a16:creationId xmlns:a16="http://schemas.microsoft.com/office/drawing/2014/main" id="{5AB4AD2B-42BC-1F7A-626D-2E836317BE80}"/>
              </a:ext>
            </a:extLst>
          </p:cNvPr>
          <p:cNvSpPr/>
          <p:nvPr/>
        </p:nvSpPr>
        <p:spPr bwMode="auto">
          <a:xfrm>
            <a:off x="3565728" y="3272602"/>
            <a:ext cx="995363" cy="318492"/>
          </a:xfrm>
          <a:custGeom>
            <a:avLst/>
            <a:gdLst>
              <a:gd name="connsiteX0" fmla="*/ 0 w 995363"/>
              <a:gd name="connsiteY0" fmla="*/ 0 h 318492"/>
              <a:gd name="connsiteX1" fmla="*/ 995363 w 995363"/>
              <a:gd name="connsiteY1" fmla="*/ 0 h 318492"/>
              <a:gd name="connsiteX2" fmla="*/ 995363 w 995363"/>
              <a:gd name="connsiteY2" fmla="*/ 318492 h 318492"/>
              <a:gd name="connsiteX3" fmla="*/ 0 w 995363"/>
              <a:gd name="connsiteY3" fmla="*/ 318492 h 31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363" h="318492">
                <a:moveTo>
                  <a:pt x="0" y="0"/>
                </a:moveTo>
                <a:lnTo>
                  <a:pt x="995363" y="0"/>
                </a:lnTo>
                <a:lnTo>
                  <a:pt x="995363" y="318492"/>
                </a:lnTo>
                <a:lnTo>
                  <a:pt x="0" y="31849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24.11</a:t>
            </a:r>
          </a:p>
        </p:txBody>
      </p:sp>
      <p:sp>
        <p:nvSpPr>
          <p:cNvPr id="123" name="Freeform 59">
            <a:extLst>
              <a:ext uri="{FF2B5EF4-FFF2-40B4-BE49-F238E27FC236}">
                <a16:creationId xmlns:a16="http://schemas.microsoft.com/office/drawing/2014/main" id="{E9D456A9-D6A3-955D-3B10-26C6A0BFA124}"/>
              </a:ext>
            </a:extLst>
          </p:cNvPr>
          <p:cNvSpPr/>
          <p:nvPr/>
        </p:nvSpPr>
        <p:spPr bwMode="auto">
          <a:xfrm>
            <a:off x="2444755" y="3899466"/>
            <a:ext cx="1004292" cy="318492"/>
          </a:xfrm>
          <a:custGeom>
            <a:avLst/>
            <a:gdLst>
              <a:gd name="connsiteX0" fmla="*/ 0 w 1004292"/>
              <a:gd name="connsiteY0" fmla="*/ 0 h 318492"/>
              <a:gd name="connsiteX1" fmla="*/ 1004292 w 1004292"/>
              <a:gd name="connsiteY1" fmla="*/ 0 h 318492"/>
              <a:gd name="connsiteX2" fmla="*/ 1004292 w 1004292"/>
              <a:gd name="connsiteY2" fmla="*/ 318492 h 318492"/>
              <a:gd name="connsiteX3" fmla="*/ 0 w 1004292"/>
              <a:gd name="connsiteY3" fmla="*/ 318492 h 31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4292" h="318492">
                <a:moveTo>
                  <a:pt x="0" y="0"/>
                </a:moveTo>
                <a:lnTo>
                  <a:pt x="1004292" y="0"/>
                </a:lnTo>
                <a:lnTo>
                  <a:pt x="1004292" y="318492"/>
                </a:lnTo>
                <a:lnTo>
                  <a:pt x="0" y="31849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13.11</a:t>
            </a:r>
          </a:p>
        </p:txBody>
      </p:sp>
      <p:sp>
        <p:nvSpPr>
          <p:cNvPr id="124" name="TextBox 50">
            <a:extLst>
              <a:ext uri="{FF2B5EF4-FFF2-40B4-BE49-F238E27FC236}">
                <a16:creationId xmlns:a16="http://schemas.microsoft.com/office/drawing/2014/main" id="{A58781A1-D8C0-59A1-7B5E-EE32D97B0671}"/>
              </a:ext>
            </a:extLst>
          </p:cNvPr>
          <p:cNvSpPr txBox="1"/>
          <p:nvPr/>
        </p:nvSpPr>
        <p:spPr>
          <a:xfrm>
            <a:off x="4532462" y="1601692"/>
            <a:ext cx="1735391" cy="184281"/>
          </a:xfrm>
          <a:prstGeom prst="rect">
            <a:avLst/>
          </a:prstGeom>
          <a:noFill/>
        </p:spPr>
        <p:txBody>
          <a:bodyPr wrap="square" lIns="91440" tIns="0" rIns="9144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noProof="0">
                <a:solidFill>
                  <a:schemeClr val="bg2">
                    <a:lumMod val="75000"/>
                  </a:schemeClr>
                </a:solidFill>
                <a:latin typeface="Segoe UI"/>
              </a:rPr>
              <a:t>Deadline</a:t>
            </a:r>
          </a:p>
        </p:txBody>
      </p:sp>
    </p:spTree>
    <p:extLst>
      <p:ext uri="{BB962C8B-B14F-4D97-AF65-F5344CB8AC3E}">
        <p14:creationId xmlns:p14="http://schemas.microsoft.com/office/powerpoint/2010/main" val="190260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6498A-1621-5607-B8D5-52BBB2CA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rgbClr val="980000"/>
                </a:solidFill>
                <a:cs typeface="Arial"/>
              </a:rPr>
              <a:t>Data Understanding, Cleaning &amp; Enrichment</a:t>
            </a:r>
            <a:endParaRPr lang="en-US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3DED71-97F9-8A0A-F4AB-870ED222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29A4-561A-5244-9E53-89478B2A22AC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BE6B98-3CEE-44E0-EAB6-0B2047E206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11</a:t>
            </a:fld>
            <a:endParaRPr lang="en-US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A6A70CC-3868-77E3-7247-A6559BEBD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25" y="1591055"/>
            <a:ext cx="7717500" cy="3176208"/>
          </a:xfrm>
        </p:spPr>
        <p:txBody>
          <a:bodyPr/>
          <a:lstStyle/>
          <a:p>
            <a:pPr marL="139700" indent="0">
              <a:buNone/>
            </a:pPr>
            <a:r>
              <a:rPr lang="en-US" noProof="0">
                <a:solidFill>
                  <a:schemeClr val="tx1"/>
                </a:solidFill>
                <a:latin typeface="Arial" panose="020B0604020202020204" pitchFamily="34" charset="0"/>
              </a:rPr>
              <a:t>Clarify open questions:</a:t>
            </a:r>
          </a:p>
          <a:p>
            <a:pPr marL="742950" lvl="5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 noProof="0">
                <a:solidFill>
                  <a:schemeClr val="tx1"/>
                </a:solidFill>
                <a:latin typeface="Arial" panose="020B0604020202020204" pitchFamily="34" charset="0"/>
              </a:rPr>
              <a:t>Why was the data collected?</a:t>
            </a:r>
          </a:p>
          <a:p>
            <a:pPr marL="742950" lvl="6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 noProof="0">
                <a:solidFill>
                  <a:schemeClr val="tx1"/>
                </a:solidFill>
                <a:latin typeface="Arial" panose="020B0604020202020204" pitchFamily="34" charset="0"/>
              </a:rPr>
              <a:t>Why only since 2019?</a:t>
            </a:r>
          </a:p>
          <a:p>
            <a:pPr marL="742950" lvl="3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 noProof="0">
                <a:solidFill>
                  <a:schemeClr val="tx1"/>
                </a:solidFill>
                <a:latin typeface="Arial" panose="020B0604020202020204" pitchFamily="34" charset="0"/>
              </a:rPr>
              <a:t>Why are data points missing?</a:t>
            </a:r>
          </a:p>
          <a:p>
            <a:pPr marL="742950" lvl="3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 noProof="0">
                <a:solidFill>
                  <a:schemeClr val="tx1"/>
                </a:solidFill>
                <a:latin typeface="Arial" panose="020B0604020202020204" pitchFamily="34" charset="0"/>
              </a:rPr>
              <a:t>Have any transformations been made to the data set?</a:t>
            </a:r>
          </a:p>
          <a:p>
            <a:pPr>
              <a:buFont typeface="Wingdings" pitchFamily="2" charset="2"/>
              <a:buChar char="à"/>
            </a:pPr>
            <a:r>
              <a:rPr lang="en-US" noProof="0">
                <a:sym typeface="Wingdings" pitchFamily="2" charset="2"/>
              </a:rPr>
              <a:t>Make an appointment with the library or send an email to clarify these points </a:t>
            </a:r>
          </a:p>
          <a:p>
            <a:pPr marL="139700" indent="0">
              <a:lnSpc>
                <a:spcPct val="100000"/>
              </a:lnSpc>
              <a:buNone/>
            </a:pPr>
            <a:endParaRPr lang="en-US">
              <a:sym typeface="Wingdings" pitchFamily="2" charset="2"/>
            </a:endParaRPr>
          </a:p>
          <a:p>
            <a:pPr marL="139700" indent="0">
              <a:buNone/>
            </a:pPr>
            <a:r>
              <a:rPr lang="en-US">
                <a:sym typeface="Wingdings" pitchFamily="2" charset="2"/>
              </a:rPr>
              <a:t>Data quality and missing data</a:t>
            </a:r>
          </a:p>
          <a:p>
            <a:pPr marL="742950" lvl="6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sym typeface="Wingdings" pitchFamily="2" charset="2"/>
              </a:rPr>
              <a:t>Deleted titles</a:t>
            </a:r>
          </a:p>
          <a:p>
            <a:pPr marL="742950" lvl="6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sym typeface="Wingdings" pitchFamily="2" charset="2"/>
              </a:rPr>
              <a:t>Missing return date</a:t>
            </a:r>
          </a:p>
          <a:p>
            <a:pPr marL="457200" lvl="6" indent="0">
              <a:buClr>
                <a:schemeClr val="bg2"/>
              </a:buClr>
              <a:buNone/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sym typeface="Wingdings" pitchFamily="2" charset="2"/>
            </a:endParaRPr>
          </a:p>
          <a:p>
            <a:pPr marL="139700" lvl="5" indent="0">
              <a:buNone/>
            </a:pPr>
            <a:r>
              <a:rPr lang="en-US">
                <a:sym typeface="Wingdings" pitchFamily="2" charset="2"/>
              </a:rPr>
              <a:t>Enrichment</a:t>
            </a:r>
          </a:p>
          <a:p>
            <a:pPr marL="742950" lvl="6" indent="-285750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sym typeface="Wingdings" pitchFamily="2" charset="2"/>
              </a:rPr>
              <a:t>add data from </a:t>
            </a:r>
            <a:r>
              <a:rPr lang="en-US" sz="1100" b="1">
                <a:solidFill>
                  <a:schemeClr val="tx1"/>
                </a:solidFill>
                <a:latin typeface="Arial" panose="020B0604020202020204" pitchFamily="34" charset="0"/>
                <a:sym typeface="Wingdings" pitchFamily="2" charset="2"/>
              </a:rPr>
              <a:t>Open Library</a:t>
            </a:r>
          </a:p>
          <a:p>
            <a:pPr marL="139700" indent="0">
              <a:buNone/>
            </a:pPr>
            <a:endParaRPr lang="en-US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4125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5BEB-C05B-865A-472D-6399DEE4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7DE7F-EFF6-CE41-FCBC-DCCF834EC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>
                <a:solidFill>
                  <a:srgbClr val="980000"/>
                </a:solidFill>
                <a:cs typeface="Arial"/>
              </a:rPr>
              <a:t>Exploratory Data Analysis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56C5B8-F217-65B5-5C80-19E90E71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3350-3268-F147-A71A-05CE1494E534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FC8E25-972C-3B36-52CB-2B07E9F0FE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12</a:t>
            </a:fld>
            <a:endParaRPr lang="en-US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1749BDC-A46B-0987-F3A6-DFCC561F3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25" y="1219201"/>
            <a:ext cx="7717500" cy="3349674"/>
          </a:xfrm>
        </p:spPr>
        <p:txBody>
          <a:bodyPr/>
          <a:lstStyle/>
          <a:p>
            <a:pPr marL="139700" indent="0">
              <a:buNone/>
            </a:pPr>
            <a:r>
              <a:rPr lang="en-US">
                <a:sym typeface="Wingdings" pitchFamily="2" charset="2"/>
              </a:rPr>
              <a:t>Descriptive statistics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/>
              <a:t>Key variables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/>
              <a:t>Distributions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ym typeface="Wingdings" pitchFamily="2" charset="2"/>
              </a:rPr>
              <a:t>Outliers and anomalies</a:t>
            </a:r>
            <a:endParaRPr lang="en-US" sz="1100"/>
          </a:p>
          <a:p>
            <a:pPr marL="139700" indent="0">
              <a:buClr>
                <a:schemeClr val="bg2"/>
              </a:buClr>
              <a:buNone/>
            </a:pPr>
            <a:r>
              <a:rPr lang="en-US">
                <a:sym typeface="Wingdings" pitchFamily="2" charset="2"/>
              </a:rPr>
              <a:t>Temporal analysis</a:t>
            </a:r>
            <a:endParaRPr lang="en-US"/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ym typeface="Wingdings" pitchFamily="2" charset="2"/>
              </a:rPr>
              <a:t>Trends in borrowing over time (e.g. effect of COVID)</a:t>
            </a:r>
            <a:endParaRPr lang="en-US" sz="1100"/>
          </a:p>
          <a:p>
            <a:pPr marL="139700" indent="0">
              <a:buClr>
                <a:schemeClr val="bg2"/>
              </a:buClr>
              <a:buNone/>
            </a:pPr>
            <a:r>
              <a:rPr lang="en-US">
                <a:sym typeface="Wingdings" pitchFamily="2" charset="2"/>
              </a:rPr>
              <a:t>Data relationships</a:t>
            </a:r>
            <a:endParaRPr lang="en-US"/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ym typeface="Wingdings" pitchFamily="2" charset="2"/>
              </a:rPr>
              <a:t>Correlations between features</a:t>
            </a:r>
            <a:endParaRPr lang="en-US" sz="1100"/>
          </a:p>
          <a:p>
            <a:pPr marL="596900" lvl="1" indent="0">
              <a:buClr>
                <a:schemeClr val="bg2"/>
              </a:buClr>
              <a:buNone/>
            </a:pPr>
            <a:endParaRPr lang="en-US">
              <a:sym typeface="Wingdings" pitchFamily="2" charset="2"/>
            </a:endParaRPr>
          </a:p>
          <a:p>
            <a:pPr marL="139700" indent="0">
              <a:buClr>
                <a:schemeClr val="bg2"/>
              </a:buClr>
              <a:buNone/>
            </a:pPr>
            <a:r>
              <a:rPr lang="en-US" b="1">
                <a:sym typeface="Wingdings" pitchFamily="2" charset="2"/>
              </a:rPr>
              <a:t>Goal</a:t>
            </a:r>
            <a:r>
              <a:rPr lang="en-US">
                <a:sym typeface="Wingdings" pitchFamily="2" charset="2"/>
              </a:rPr>
              <a:t>: </a:t>
            </a:r>
            <a:endParaRPr lang="en-US"/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ym typeface="Wingdings" pitchFamily="2" charset="2"/>
              </a:rPr>
              <a:t>Gain more insights into the dataset</a:t>
            </a:r>
            <a:endParaRPr lang="en-US" sz="1100"/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ym typeface="Wingdings" pitchFamily="2" charset="2"/>
              </a:rPr>
              <a:t>Explore potential relationships</a:t>
            </a:r>
            <a:endParaRPr lang="en-US" sz="1100"/>
          </a:p>
          <a:p>
            <a:pPr lvl="1">
              <a:buClr>
                <a:schemeClr val="bg2"/>
              </a:buClr>
              <a:buFont typeface="Wingdings" pitchFamily="2" charset="2"/>
              <a:buChar char="§"/>
            </a:pPr>
            <a:r>
              <a:rPr lang="en-US" sz="1100">
                <a:sym typeface="Wingdings" pitchFamily="2" charset="2"/>
              </a:rPr>
              <a:t>Build foundation for hypothesis testing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85726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1255C-CD03-4D7D-7538-CBE2F2FC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0DBA2-6476-C879-A62D-64BE941A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Hypothesi</a:t>
            </a:r>
            <a:r>
              <a:rPr lang="en-US"/>
              <a:t>s Testing</a:t>
            </a:r>
            <a:endParaRPr lang="en-US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4E41F6-0C4C-1239-43FD-F43CDB0E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29A4-561A-5244-9E53-89478B2A22AC}" type="datetime3">
              <a:rPr lang="de-DE" noProof="0" smtClean="0"/>
              <a:t>17/11/25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97F182-0288-0442-6D15-065EF05304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B434-C8DE-8F46-9B56-30D3A344C26A}" type="slidenum">
              <a:rPr lang="en-US" noProof="0" smtClean="0"/>
              <a:t>13</a:t>
            </a:fld>
            <a:endParaRPr lang="en-US" noProof="0"/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5B199ED3-CC5B-7DEC-08D7-E7860ADA5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6974067"/>
              </p:ext>
            </p:extLst>
          </p:nvPr>
        </p:nvGraphicFramePr>
        <p:xfrm>
          <a:off x="713225" y="1198675"/>
          <a:ext cx="6486115" cy="3387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9346277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Organizations in Globalization by Slidesgo">
  <a:themeElements>
    <a:clrScheme name="Simple Light">
      <a:dk1>
        <a:srgbClr val="333333"/>
      </a:dk1>
      <a:lt1>
        <a:srgbClr val="FFF8F2"/>
      </a:lt1>
      <a:dk2>
        <a:srgbClr val="98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International Organizations in Globalization by Slidesgo</vt:lpstr>
      <vt:lpstr>Data Literacy</vt:lpstr>
      <vt:lpstr>Our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– Project Roadmap</vt:lpstr>
      <vt:lpstr>Data Understanding, Cleaning &amp; Enrichment</vt:lpstr>
      <vt:lpstr>Exploratory Data Analysis</vt:lpstr>
      <vt:lpstr>Hypothesis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2025-11-18T05:59:17Z</dcterms:modified>
</cp:coreProperties>
</file>